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8.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66" r:id="rId2"/>
    <p:sldId id="267" r:id="rId3"/>
    <p:sldId id="257" r:id="rId4"/>
    <p:sldId id="258" r:id="rId5"/>
    <p:sldId id="259" r:id="rId6"/>
    <p:sldId id="260" r:id="rId7"/>
    <p:sldId id="261" r:id="rId8"/>
    <p:sldId id="269" r:id="rId9"/>
    <p:sldId id="268" r:id="rId10"/>
    <p:sldId id="270" r:id="rId11"/>
    <p:sldId id="264" r:id="rId12"/>
    <p:sldId id="271" r:id="rId13"/>
    <p:sldId id="265"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52"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5569"/>
    <a:srgbClr val="0D9488"/>
    <a:srgbClr val="00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5" d="100"/>
          <a:sy n="105" d="100"/>
        </p:scale>
        <p:origin x="798" y="96"/>
      </p:cViewPr>
      <p:guideLst>
        <p:guide orient="horz" pos="2152"/>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3.xml"/><Relationship Id="rId7" Type="http://schemas.openxmlformats.org/officeDocument/2006/relationships/image" Target="../media/image37.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tags" Target="../tags/tag4.xml"/><Relationship Id="rId9"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41.webp"/><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40.jpeg"/><Relationship Id="rId5" Type="http://schemas.openxmlformats.org/officeDocument/2006/relationships/image" Target="../media/image14.png"/><Relationship Id="rId4" Type="http://schemas.openxmlformats.org/officeDocument/2006/relationships/image" Target="../media/image39.webp"/></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srcRect/>
          <a:stretch>
            <a:fillRect/>
          </a:stretch>
        </p:blipFill>
        <p:spPr>
          <a:xfrm>
            <a:off x="819152" y="4869018"/>
            <a:ext cx="3419004" cy="1640361"/>
          </a:xfrm>
          <a:prstGeom prst="rect">
            <a:avLst/>
          </a:prstGeom>
          <a:noFill/>
          <a:ln>
            <a:noFill/>
          </a:ln>
        </p:spPr>
      </p:pic>
      <p:pic>
        <p:nvPicPr>
          <p:cNvPr id="86" name="Google Shape;86;p13" descr="image.png"/>
          <p:cNvPicPr preferRelativeResize="0"/>
          <p:nvPr/>
        </p:nvPicPr>
        <p:blipFill rotWithShape="1">
          <a:blip r:embed="rId5"/>
          <a:srcRect/>
          <a:stretch>
            <a:fillRect/>
          </a:stretch>
        </p:blipFill>
        <p:spPr>
          <a:xfrm>
            <a:off x="7525463" y="4500282"/>
            <a:ext cx="4122421" cy="2127203"/>
          </a:xfrm>
          <a:prstGeom prst="rect">
            <a:avLst/>
          </a:prstGeom>
          <a:noFill/>
          <a:ln>
            <a:noFill/>
          </a:ln>
        </p:spPr>
      </p:pic>
      <p:pic>
        <p:nvPicPr>
          <p:cNvPr id="87" name="Google Shape;87;p13" descr="image.png"/>
          <p:cNvPicPr preferRelativeResize="0"/>
          <p:nvPr/>
        </p:nvPicPr>
        <p:blipFill rotWithShape="1">
          <a:blip r:embed="rId6"/>
          <a:srcRect/>
          <a:stretch>
            <a:fillRect/>
          </a:stretch>
        </p:blipFill>
        <p:spPr>
          <a:xfrm>
            <a:off x="1809750" y="1575601"/>
            <a:ext cx="8572500" cy="2658828"/>
          </a:xfrm>
          <a:prstGeom prst="rect">
            <a:avLst/>
          </a:prstGeom>
          <a:noFill/>
          <a:ln>
            <a:noFill/>
          </a:ln>
        </p:spPr>
      </p:pic>
      <p:sp>
        <p:nvSpPr>
          <p:cNvPr id="89" name="Google Shape;89;p13"/>
          <p:cNvSpPr txBox="1"/>
          <p:nvPr/>
        </p:nvSpPr>
        <p:spPr>
          <a:xfrm>
            <a:off x="2700814" y="1636827"/>
            <a:ext cx="6790372" cy="221599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000" b="1" i="0" u="none" strike="noStrike" cap="none" dirty="0">
                <a:solidFill>
                  <a:srgbClr val="0F172A"/>
                </a:solidFill>
                <a:latin typeface="Times New Roman" panose="02020603050405020304" pitchFamily="18" charset="0"/>
                <a:ea typeface="Poppins"/>
                <a:cs typeface="Times New Roman" panose="02020603050405020304" pitchFamily="18" charset="0"/>
                <a:sym typeface="Poppins"/>
              </a:rPr>
              <a:t>Cyber-Bullying on the AIUB Campus and the role of Mobile Applications to Reduce it</a:t>
            </a:r>
            <a:endParaRPr sz="4000" b="1" dirty="0">
              <a:latin typeface="Times New Roman" panose="02020603050405020304" pitchFamily="18" charset="0"/>
              <a:cs typeface="Times New Roman" panose="02020603050405020304" pitchFamily="18" charset="0"/>
            </a:endParaRPr>
          </a:p>
        </p:txBody>
      </p:sp>
      <p:sp>
        <p:nvSpPr>
          <p:cNvPr id="90" name="Google Shape;90;p13"/>
          <p:cNvSpPr txBox="1"/>
          <p:nvPr/>
        </p:nvSpPr>
        <p:spPr>
          <a:xfrm>
            <a:off x="986314" y="5005604"/>
            <a:ext cx="2340292"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D9488"/>
                </a:solidFill>
                <a:latin typeface="Times New Roman" panose="02020603050405020304" pitchFamily="18" charset="0"/>
                <a:ea typeface="Poppins"/>
                <a:cs typeface="Times New Roman" panose="02020603050405020304" pitchFamily="18" charset="0"/>
                <a:sym typeface="Poppins"/>
              </a:rPr>
              <a:t>SUPERVISED BY</a:t>
            </a:r>
            <a:endParaRPr b="1" dirty="0">
              <a:latin typeface="Times New Roman" panose="02020603050405020304" pitchFamily="18" charset="0"/>
              <a:cs typeface="Times New Roman" panose="02020603050405020304" pitchFamily="18" charset="0"/>
            </a:endParaRPr>
          </a:p>
        </p:txBody>
      </p:sp>
      <p:graphicFrame>
        <p:nvGraphicFramePr>
          <p:cNvPr id="91" name="Google Shape;91;p13"/>
          <p:cNvGraphicFramePr/>
          <p:nvPr/>
        </p:nvGraphicFramePr>
        <p:xfrm>
          <a:off x="986313" y="5332101"/>
          <a:ext cx="3251842" cy="991047"/>
        </p:xfrm>
        <a:graphic>
          <a:graphicData uri="http://schemas.openxmlformats.org/drawingml/2006/table">
            <a:tbl>
              <a:tblPr firstRow="1" bandRow="1">
                <a:tableStyleId>{2D5ABB26-0587-4C30-8999-92F81FD0307C}</a:tableStyleId>
              </a:tblPr>
              <a:tblGrid>
                <a:gridCol w="969963">
                  <a:extLst>
                    <a:ext uri="{9D8B030D-6E8A-4147-A177-3AD203B41FA5}">
                      <a16:colId xmlns:a16="http://schemas.microsoft.com/office/drawing/2014/main" val="20000"/>
                    </a:ext>
                  </a:extLst>
                </a:gridCol>
                <a:gridCol w="2281879">
                  <a:extLst>
                    <a:ext uri="{9D8B030D-6E8A-4147-A177-3AD203B41FA5}">
                      <a16:colId xmlns:a16="http://schemas.microsoft.com/office/drawing/2014/main" val="20001"/>
                    </a:ext>
                  </a:extLst>
                </a:gridCol>
              </a:tblGrid>
              <a:tr h="330349">
                <a:tc>
                  <a:txBody>
                    <a:bodyPr/>
                    <a:lstStyle/>
                    <a:p>
                      <a:pPr marL="0" marR="0" lvl="0" indent="0" algn="l" rtl="0">
                        <a:spcBef>
                          <a:spcPts val="0"/>
                        </a:spcBef>
                        <a:spcAft>
                          <a:spcPts val="0"/>
                        </a:spcAft>
                        <a:buNone/>
                      </a:pPr>
                      <a:r>
                        <a:rPr lang="en-US" sz="1050" b="1" u="none" strike="noStrike" cap="none" dirty="0">
                          <a:solidFill>
                            <a:srgbClr val="334155"/>
                          </a:solidFill>
                          <a:latin typeface="Times New Roman" panose="02020603050405020304" pitchFamily="18" charset="0"/>
                          <a:cs typeface="Times New Roman" panose="02020603050405020304" pitchFamily="18" charset="0"/>
                          <a:sym typeface="Lato"/>
                        </a:rPr>
                        <a:t>Name:</a:t>
                      </a:r>
                      <a:endParaRPr sz="1050" b="1" dirty="0">
                        <a:latin typeface="Times New Roman" panose="02020603050405020304" pitchFamily="18" charset="0"/>
                        <a:cs typeface="Times New Roman" panose="02020603050405020304" pitchFamily="18" charset="0"/>
                      </a:endParaRPr>
                    </a:p>
                  </a:txBody>
                  <a:tcPr marL="63500" marR="63500" marT="25400" marB="25400" anchor="ctr"/>
                </a:tc>
                <a:tc>
                  <a:txBody>
                    <a:bodyPr/>
                    <a:lstStyle/>
                    <a:p>
                      <a:pPr marL="0" marR="0" lvl="0" indent="0" algn="l" rtl="0">
                        <a:spcBef>
                          <a:spcPts val="0"/>
                        </a:spcBef>
                        <a:spcAft>
                          <a:spcPts val="0"/>
                        </a:spcAft>
                        <a:buNone/>
                      </a:pPr>
                      <a:r>
                        <a:rPr lang="en-GB" sz="1050" b="1" u="none" strike="noStrike" cap="none" dirty="0" err="1">
                          <a:solidFill>
                            <a:srgbClr val="334155"/>
                          </a:solidFill>
                          <a:latin typeface="Times New Roman" panose="02020603050405020304" pitchFamily="18" charset="0"/>
                          <a:cs typeface="Times New Roman" panose="02020603050405020304" pitchFamily="18" charset="0"/>
                          <a:sym typeface="Lato"/>
                        </a:rPr>
                        <a:t>Dr.</a:t>
                      </a:r>
                      <a:r>
                        <a:rPr lang="en-GB" sz="1050" b="1" u="none" strike="noStrike" cap="none" dirty="0">
                          <a:solidFill>
                            <a:srgbClr val="334155"/>
                          </a:solidFill>
                          <a:latin typeface="Times New Roman" panose="02020603050405020304" pitchFamily="18" charset="0"/>
                          <a:cs typeface="Times New Roman" panose="02020603050405020304" pitchFamily="18" charset="0"/>
                          <a:sym typeface="Lato"/>
                        </a:rPr>
                        <a:t> </a:t>
                      </a:r>
                      <a:r>
                        <a:rPr lang="en-GB" sz="1050" b="1" u="none" strike="noStrike" cap="none" dirty="0" err="1">
                          <a:solidFill>
                            <a:srgbClr val="334155"/>
                          </a:solidFill>
                          <a:latin typeface="Times New Roman" panose="02020603050405020304" pitchFamily="18" charset="0"/>
                          <a:cs typeface="Times New Roman" panose="02020603050405020304" pitchFamily="18" charset="0"/>
                          <a:sym typeface="Lato"/>
                        </a:rPr>
                        <a:t>Mahfuza</a:t>
                      </a:r>
                      <a:r>
                        <a:rPr lang="en-GB" sz="1050" b="1" u="none" strike="noStrike" cap="none" dirty="0">
                          <a:solidFill>
                            <a:srgbClr val="334155"/>
                          </a:solidFill>
                          <a:latin typeface="Times New Roman" panose="02020603050405020304" pitchFamily="18" charset="0"/>
                          <a:cs typeface="Times New Roman" panose="02020603050405020304" pitchFamily="18" charset="0"/>
                          <a:sym typeface="Lato"/>
                        </a:rPr>
                        <a:t> </a:t>
                      </a:r>
                      <a:r>
                        <a:rPr lang="en-GB" sz="1050" b="1" u="none" strike="noStrike" cap="none" dirty="0" err="1">
                          <a:solidFill>
                            <a:srgbClr val="334155"/>
                          </a:solidFill>
                          <a:latin typeface="Times New Roman" panose="02020603050405020304" pitchFamily="18" charset="0"/>
                          <a:cs typeface="Times New Roman" panose="02020603050405020304" pitchFamily="18" charset="0"/>
                          <a:sym typeface="Lato"/>
                        </a:rPr>
                        <a:t>Khatun</a:t>
                      </a:r>
                      <a:endParaRPr lang="en-US" sz="1050" b="1" dirty="0">
                        <a:latin typeface="Times New Roman" panose="02020603050405020304" pitchFamily="18" charset="0"/>
                        <a:cs typeface="Times New Roman" panose="02020603050405020304" pitchFamily="18" charset="0"/>
                      </a:endParaRPr>
                    </a:p>
                  </a:txBody>
                  <a:tcPr marL="63500" marR="63500" marT="25400" marB="25400" anchor="ctr"/>
                </a:tc>
                <a:extLst>
                  <a:ext uri="{0D108BD9-81ED-4DB2-BD59-A6C34878D82A}">
                    <a16:rowId xmlns:a16="http://schemas.microsoft.com/office/drawing/2014/main" val="10000"/>
                  </a:ext>
                </a:extLst>
              </a:tr>
              <a:tr h="330349">
                <a:tc>
                  <a:txBody>
                    <a:bodyPr/>
                    <a:lstStyle/>
                    <a:p>
                      <a:pPr marL="0" marR="0" lvl="0" indent="0" algn="l" rtl="0">
                        <a:spcBef>
                          <a:spcPts val="0"/>
                        </a:spcBef>
                        <a:spcAft>
                          <a:spcPts val="0"/>
                        </a:spcAft>
                        <a:buNone/>
                      </a:pPr>
                      <a:r>
                        <a:rPr lang="en-US" sz="1050" b="1" u="none" strike="noStrike" cap="none" dirty="0">
                          <a:solidFill>
                            <a:srgbClr val="334155"/>
                          </a:solidFill>
                          <a:latin typeface="Times New Roman" panose="02020603050405020304" pitchFamily="18" charset="0"/>
                          <a:cs typeface="Times New Roman" panose="02020603050405020304" pitchFamily="18" charset="0"/>
                          <a:sym typeface="Lato"/>
                        </a:rPr>
                        <a:t>Designation:</a:t>
                      </a:r>
                      <a:endParaRPr sz="1050" b="1" dirty="0">
                        <a:latin typeface="Times New Roman" panose="02020603050405020304" pitchFamily="18" charset="0"/>
                        <a:cs typeface="Times New Roman" panose="02020603050405020304" pitchFamily="18" charset="0"/>
                      </a:endParaRPr>
                    </a:p>
                  </a:txBody>
                  <a:tcPr marL="63500" marR="63500" marT="25400" marB="25400" anchor="ctr"/>
                </a:tc>
                <a:tc>
                  <a:txBody>
                    <a:bodyPr/>
                    <a:lstStyle/>
                    <a:p>
                      <a:pPr marL="0" marR="0" lvl="0" indent="0" algn="l" rtl="0">
                        <a:spcBef>
                          <a:spcPts val="0"/>
                        </a:spcBef>
                        <a:spcAft>
                          <a:spcPts val="0"/>
                        </a:spcAft>
                        <a:buNone/>
                      </a:pPr>
                      <a:r>
                        <a:rPr lang="en-US" sz="1100" b="1" u="none" strike="noStrike" cap="none" dirty="0">
                          <a:solidFill>
                            <a:srgbClr val="334155"/>
                          </a:solidFill>
                          <a:latin typeface="Times New Roman" panose="02020603050405020304" pitchFamily="18" charset="0"/>
                          <a:cs typeface="Times New Roman" panose="02020603050405020304" pitchFamily="18" charset="0"/>
                          <a:sym typeface="Lato"/>
                        </a:rPr>
                        <a:t>Associate Professor, Faculty</a:t>
                      </a:r>
                      <a:endParaRPr sz="1100" b="1" dirty="0">
                        <a:latin typeface="Times New Roman" panose="02020603050405020304" pitchFamily="18" charset="0"/>
                        <a:cs typeface="Times New Roman" panose="02020603050405020304" pitchFamily="18" charset="0"/>
                      </a:endParaRPr>
                    </a:p>
                  </a:txBody>
                  <a:tcPr marL="63500" marR="63500" marT="25400" marB="25400" anchor="ctr"/>
                </a:tc>
                <a:extLst>
                  <a:ext uri="{0D108BD9-81ED-4DB2-BD59-A6C34878D82A}">
                    <a16:rowId xmlns:a16="http://schemas.microsoft.com/office/drawing/2014/main" val="10001"/>
                  </a:ext>
                </a:extLst>
              </a:tr>
              <a:tr h="330349">
                <a:tc>
                  <a:txBody>
                    <a:bodyPr/>
                    <a:lstStyle/>
                    <a:p>
                      <a:pPr marL="0" marR="0" lvl="0" indent="0" algn="l" rtl="0">
                        <a:spcBef>
                          <a:spcPts val="0"/>
                        </a:spcBef>
                        <a:spcAft>
                          <a:spcPts val="0"/>
                        </a:spcAft>
                        <a:buNone/>
                      </a:pPr>
                      <a:r>
                        <a:rPr lang="en-US" sz="1050" b="1" u="none" strike="noStrike" cap="none" dirty="0">
                          <a:solidFill>
                            <a:srgbClr val="334155"/>
                          </a:solidFill>
                          <a:latin typeface="Times New Roman" panose="02020603050405020304" pitchFamily="18" charset="0"/>
                          <a:cs typeface="Times New Roman" panose="02020603050405020304" pitchFamily="18" charset="0"/>
                          <a:sym typeface="Lato"/>
                        </a:rPr>
                        <a:t>Department:</a:t>
                      </a:r>
                      <a:endParaRPr sz="1050" b="1" dirty="0">
                        <a:latin typeface="Times New Roman" panose="02020603050405020304" pitchFamily="18" charset="0"/>
                        <a:cs typeface="Times New Roman" panose="02020603050405020304" pitchFamily="18" charset="0"/>
                      </a:endParaRPr>
                    </a:p>
                  </a:txBody>
                  <a:tcPr marL="63500" marR="63500" marT="25400" marB="25400" anchor="ctr"/>
                </a:tc>
                <a:tc>
                  <a:txBody>
                    <a:bodyPr/>
                    <a:lstStyle/>
                    <a:p>
                      <a:pPr marL="0" marR="0" lvl="0" indent="0" algn="l" rtl="0">
                        <a:spcBef>
                          <a:spcPts val="0"/>
                        </a:spcBef>
                        <a:spcAft>
                          <a:spcPts val="0"/>
                        </a:spcAft>
                        <a:buNone/>
                      </a:pPr>
                      <a:r>
                        <a:rPr lang="en-GB" sz="1050" b="1" u="none" strike="noStrike" cap="none" dirty="0">
                          <a:solidFill>
                            <a:srgbClr val="334155"/>
                          </a:solidFill>
                          <a:latin typeface="Times New Roman" panose="02020603050405020304" pitchFamily="18" charset="0"/>
                          <a:cs typeface="Times New Roman" panose="02020603050405020304" pitchFamily="18" charset="0"/>
                          <a:sym typeface="Lato"/>
                        </a:rPr>
                        <a:t>Department Of Mathematics</a:t>
                      </a:r>
                      <a:endParaRPr sz="1050" b="1" dirty="0">
                        <a:latin typeface="Times New Roman" panose="02020603050405020304" pitchFamily="18" charset="0"/>
                        <a:cs typeface="Times New Roman" panose="02020603050405020304" pitchFamily="18" charset="0"/>
                      </a:endParaRPr>
                    </a:p>
                  </a:txBody>
                  <a:tcPr marL="63500" marR="63500" marT="25400" marB="25400" anchor="ctr"/>
                </a:tc>
                <a:extLst>
                  <a:ext uri="{0D108BD9-81ED-4DB2-BD59-A6C34878D82A}">
                    <a16:rowId xmlns:a16="http://schemas.microsoft.com/office/drawing/2014/main" val="10002"/>
                  </a:ext>
                </a:extLst>
              </a:tr>
            </a:tbl>
          </a:graphicData>
        </a:graphic>
      </p:graphicFrame>
      <p:sp>
        <p:nvSpPr>
          <p:cNvPr id="92" name="Google Shape;92;p13"/>
          <p:cNvSpPr txBox="1"/>
          <p:nvPr/>
        </p:nvSpPr>
        <p:spPr>
          <a:xfrm rot="10800000" flipV="1">
            <a:off x="7731875" y="4567821"/>
            <a:ext cx="2574068"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GB" sz="1400" b="1" i="0" u="none" strike="noStrike" cap="none" dirty="0">
                <a:solidFill>
                  <a:srgbClr val="0D9488"/>
                </a:solidFill>
                <a:latin typeface="Times New Roman" panose="02020603050405020304" pitchFamily="18" charset="0"/>
                <a:ea typeface="Poppins"/>
                <a:cs typeface="Times New Roman" panose="02020603050405020304" pitchFamily="18" charset="0"/>
                <a:sym typeface="Poppins"/>
              </a:rPr>
              <a:t>PRESENTED BY: GROUP - H</a:t>
            </a:r>
            <a:endParaRPr b="1" dirty="0">
              <a:latin typeface="Times New Roman" panose="02020603050405020304" pitchFamily="18" charset="0"/>
              <a:cs typeface="Times New Roman" panose="02020603050405020304" pitchFamily="18" charset="0"/>
            </a:endParaRPr>
          </a:p>
        </p:txBody>
      </p:sp>
      <p:graphicFrame>
        <p:nvGraphicFramePr>
          <p:cNvPr id="93" name="Google Shape;93;p13"/>
          <p:cNvGraphicFramePr/>
          <p:nvPr>
            <p:extLst>
              <p:ext uri="{D42A27DB-BD31-4B8C-83A1-F6EECF244321}">
                <p14:modId xmlns:p14="http://schemas.microsoft.com/office/powerpoint/2010/main" val="3759499734"/>
              </p:ext>
            </p:extLst>
          </p:nvPr>
        </p:nvGraphicFramePr>
        <p:xfrm>
          <a:off x="7731875" y="4912509"/>
          <a:ext cx="3709595" cy="1584960"/>
        </p:xfrm>
        <a:graphic>
          <a:graphicData uri="http://schemas.openxmlformats.org/drawingml/2006/table">
            <a:tbl>
              <a:tblPr firstRow="1" bandRow="1">
                <a:tableStyleId>{2D5ABB26-0587-4C30-8999-92F81FD0307C}</a:tableStyleId>
              </a:tblPr>
              <a:tblGrid>
                <a:gridCol w="2275368">
                  <a:extLst>
                    <a:ext uri="{9D8B030D-6E8A-4147-A177-3AD203B41FA5}">
                      <a16:colId xmlns:a16="http://schemas.microsoft.com/office/drawing/2014/main" val="20000"/>
                    </a:ext>
                  </a:extLst>
                </a:gridCol>
                <a:gridCol w="1434227">
                  <a:extLst>
                    <a:ext uri="{9D8B030D-6E8A-4147-A177-3AD203B41FA5}">
                      <a16:colId xmlns:a16="http://schemas.microsoft.com/office/drawing/2014/main" val="20001"/>
                    </a:ext>
                  </a:extLst>
                </a:gridCol>
              </a:tblGrid>
              <a:tr h="252857">
                <a:tc>
                  <a:txBody>
                    <a:bodyPr/>
                    <a:lstStyle/>
                    <a:p>
                      <a:pPr marL="0" marR="0" lvl="0" indent="0" algn="l" rtl="0">
                        <a:spcBef>
                          <a:spcPts val="0"/>
                        </a:spcBef>
                        <a:spcAft>
                          <a:spcPts val="0"/>
                        </a:spcAft>
                        <a:buNone/>
                      </a:pP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Fariha Tasnim Sunanda</a:t>
                      </a:r>
                      <a:endParaRPr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23-54942-3</a:t>
                      </a:r>
                      <a:endParaRPr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52857">
                <a:tc>
                  <a:txBody>
                    <a:bodyPr/>
                    <a:lstStyle/>
                    <a:p>
                      <a:pPr marL="0" marR="0" lvl="0" indent="0" algn="l" rtl="0">
                        <a:spcBef>
                          <a:spcPts val="0"/>
                        </a:spcBef>
                        <a:spcAft>
                          <a:spcPts val="0"/>
                        </a:spcAft>
                        <a:buNone/>
                      </a:pP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Sarita Islam </a:t>
                      </a:r>
                      <a:r>
                        <a:rPr lang="en-US" sz="1400" b="1" u="none" strike="noStrike" cap="none" dirty="0" err="1">
                          <a:solidFill>
                            <a:srgbClr val="334155"/>
                          </a:solidFill>
                          <a:latin typeface="Times New Roman" panose="02020603050405020304" pitchFamily="18" charset="0"/>
                          <a:cs typeface="Times New Roman" panose="02020603050405020304" pitchFamily="18" charset="0"/>
                          <a:sym typeface="Lato"/>
                        </a:rPr>
                        <a:t>Usmita</a:t>
                      </a:r>
                      <a:endParaRPr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24-56695-1</a:t>
                      </a:r>
                      <a:endParaRPr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2857">
                <a:tc>
                  <a:txBody>
                    <a:bodyPr/>
                    <a:lstStyle/>
                    <a:p>
                      <a:pPr marL="0" marR="0" lvl="0" indent="0" algn="l" rtl="0">
                        <a:spcBef>
                          <a:spcPts val="0"/>
                        </a:spcBef>
                        <a:spcAft>
                          <a:spcPts val="0"/>
                        </a:spcAft>
                        <a:buNone/>
                      </a:pP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Md. Shafiqur Rahman</a:t>
                      </a:r>
                      <a:endParaRPr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24-57262-2</a:t>
                      </a:r>
                      <a:endParaRPr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2857">
                <a:tc>
                  <a:txBody>
                    <a:bodyPr/>
                    <a:lstStyle/>
                    <a:p>
                      <a:pPr marL="0" marR="0" lvl="0" indent="0" algn="l" rtl="0">
                        <a:spcBef>
                          <a:spcPts val="0"/>
                        </a:spcBef>
                        <a:spcAft>
                          <a:spcPts val="0"/>
                        </a:spcAft>
                        <a:buNone/>
                      </a:pP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Nazib Hasan Tasin</a:t>
                      </a:r>
                      <a:endParaRPr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24-56652-1</a:t>
                      </a:r>
                      <a:endParaRPr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2857">
                <a:tc>
                  <a:txBody>
                    <a:bodyPr/>
                    <a:lstStyle/>
                    <a:p>
                      <a:pPr marL="0" marR="0" lvl="0" indent="0" algn="l" rtl="0">
                        <a:spcBef>
                          <a:spcPts val="0"/>
                        </a:spcBef>
                        <a:spcAft>
                          <a:spcPts val="0"/>
                        </a:spcAft>
                        <a:buNone/>
                      </a:pPr>
                      <a:r>
                        <a:rPr lang="en-GB" sz="1400" b="1" u="none" strike="noStrike" cap="none" dirty="0" err="1">
                          <a:solidFill>
                            <a:srgbClr val="334155"/>
                          </a:solidFill>
                          <a:latin typeface="Times New Roman" panose="02020603050405020304" pitchFamily="18" charset="0"/>
                          <a:cs typeface="Times New Roman" panose="02020603050405020304" pitchFamily="18" charset="0"/>
                          <a:sym typeface="Lato"/>
                        </a:rPr>
                        <a:t>Shimanta</a:t>
                      </a: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 </a:t>
                      </a:r>
                      <a:r>
                        <a:rPr lang="en-US" sz="1400" b="1" u="none" strike="noStrike" cap="none" dirty="0" err="1">
                          <a:solidFill>
                            <a:srgbClr val="334155"/>
                          </a:solidFill>
                          <a:latin typeface="Times New Roman" panose="02020603050405020304" pitchFamily="18" charset="0"/>
                          <a:cs typeface="Times New Roman" panose="02020603050405020304" pitchFamily="18" charset="0"/>
                          <a:sym typeface="Lato"/>
                        </a:rPr>
                        <a:t>Shaha</a:t>
                      </a:r>
                      <a:endParaRPr lang="en-US"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24-57227-2</a:t>
                      </a:r>
                      <a:endParaRPr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2857">
                <a:tc>
                  <a:txBody>
                    <a:bodyPr/>
                    <a:lstStyle/>
                    <a:p>
                      <a:pPr marL="0" marR="0" lvl="0" indent="0" algn="l" rtl="0">
                        <a:spcBef>
                          <a:spcPts val="0"/>
                        </a:spcBef>
                        <a:spcAft>
                          <a:spcPts val="0"/>
                        </a:spcAft>
                        <a:buNone/>
                      </a:pPr>
                      <a:r>
                        <a:rPr lang="en-GB" sz="1400" b="1" u="none" strike="noStrike" cap="none" dirty="0" err="1">
                          <a:solidFill>
                            <a:srgbClr val="334155"/>
                          </a:solidFill>
                          <a:latin typeface="Times New Roman" panose="02020603050405020304" pitchFamily="18" charset="0"/>
                          <a:cs typeface="Times New Roman" panose="02020603050405020304" pitchFamily="18" charset="0"/>
                          <a:sym typeface="Lato"/>
                        </a:rPr>
                        <a:t>Hriduan</a:t>
                      </a:r>
                      <a:r>
                        <a:rPr lang="en-GB" sz="1400" b="1" u="none" strike="noStrike" cap="none" dirty="0">
                          <a:solidFill>
                            <a:srgbClr val="334155"/>
                          </a:solidFill>
                          <a:latin typeface="Times New Roman" panose="02020603050405020304" pitchFamily="18" charset="0"/>
                          <a:cs typeface="Times New Roman" panose="02020603050405020304" pitchFamily="18" charset="0"/>
                          <a:sym typeface="Lato"/>
                        </a:rPr>
                        <a:t> </a:t>
                      </a:r>
                      <a:r>
                        <a:rPr lang="en-GB" sz="1400" b="1" u="none" strike="noStrike" cap="none" dirty="0" err="1">
                          <a:solidFill>
                            <a:srgbClr val="334155"/>
                          </a:solidFill>
                          <a:latin typeface="Times New Roman" panose="02020603050405020304" pitchFamily="18" charset="0"/>
                          <a:cs typeface="Times New Roman" panose="02020603050405020304" pitchFamily="18" charset="0"/>
                          <a:sym typeface="Lato"/>
                        </a:rPr>
                        <a:t>Omor</a:t>
                      </a:r>
                      <a:r>
                        <a:rPr lang="en-GB" sz="1400" b="1" u="none" strike="noStrike" cap="none" dirty="0">
                          <a:solidFill>
                            <a:srgbClr val="334155"/>
                          </a:solidFill>
                          <a:latin typeface="Times New Roman" panose="02020603050405020304" pitchFamily="18" charset="0"/>
                          <a:cs typeface="Times New Roman" panose="02020603050405020304" pitchFamily="18" charset="0"/>
                          <a:sym typeface="Lato"/>
                        </a:rPr>
                        <a:t> Siam</a:t>
                      </a:r>
                      <a:endParaRPr lang="en-US"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23-55</a:t>
                      </a:r>
                      <a:r>
                        <a:rPr lang="en-GB" sz="1400" b="1" u="none" strike="noStrike" cap="none" dirty="0">
                          <a:solidFill>
                            <a:srgbClr val="334155"/>
                          </a:solidFill>
                          <a:latin typeface="Times New Roman" panose="02020603050405020304" pitchFamily="18" charset="0"/>
                          <a:cs typeface="Times New Roman" panose="02020603050405020304" pitchFamily="18" charset="0"/>
                          <a:sym typeface="Lato"/>
                        </a:rPr>
                        <a:t>770</a:t>
                      </a:r>
                      <a:r>
                        <a:rPr lang="en-US" sz="1400" b="1" u="none" strike="noStrike" cap="none" dirty="0">
                          <a:solidFill>
                            <a:srgbClr val="334155"/>
                          </a:solidFill>
                          <a:latin typeface="Times New Roman" panose="02020603050405020304" pitchFamily="18" charset="0"/>
                          <a:cs typeface="Times New Roman" panose="02020603050405020304" pitchFamily="18" charset="0"/>
                          <a:sym typeface="Lato"/>
                        </a:rPr>
                        <a:t>-3</a:t>
                      </a:r>
                      <a:endParaRPr lang="en-US" sz="1400" b="1" dirty="0">
                        <a:latin typeface="Times New Roman" panose="02020603050405020304" pitchFamily="18" charset="0"/>
                        <a:cs typeface="Times New Roman" panose="02020603050405020304" pitchFamily="18"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3" name="Google Shape;87;p13" descr="image.png"/>
          <p:cNvPicPr preferRelativeResize="0"/>
          <p:nvPr/>
        </p:nvPicPr>
        <p:blipFill rotWithShape="1">
          <a:blip r:embed="rId6"/>
          <a:srcRect/>
          <a:stretch>
            <a:fillRect/>
          </a:stretch>
        </p:blipFill>
        <p:spPr>
          <a:xfrm>
            <a:off x="1809750" y="230515"/>
            <a:ext cx="8572500" cy="1248175"/>
          </a:xfrm>
          <a:prstGeom prst="rect">
            <a:avLst/>
          </a:prstGeom>
          <a:noFill/>
          <a:ln>
            <a:noFill/>
          </a:ln>
        </p:spPr>
      </p:pic>
      <p:sp>
        <p:nvSpPr>
          <p:cNvPr id="14" name="Google Shape;88;p13"/>
          <p:cNvSpPr txBox="1"/>
          <p:nvPr/>
        </p:nvSpPr>
        <p:spPr>
          <a:xfrm>
            <a:off x="3048001" y="701752"/>
            <a:ext cx="781050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chemeClr val="bg2"/>
                </a:solidFill>
                <a:latin typeface="Times New Roman" panose="02020603050405020304" pitchFamily="18" charset="0"/>
                <a:ea typeface="Lato"/>
                <a:cs typeface="Times New Roman" panose="02020603050405020304" pitchFamily="18" charset="0"/>
                <a:sym typeface="Lato"/>
              </a:rPr>
              <a:t>AMERICAN INTERNATIONAL UNIVERSITY BANGLADESH</a:t>
            </a:r>
            <a:endParaRPr b="1" dirty="0">
              <a:solidFill>
                <a:schemeClr val="bg2"/>
              </a:solidFill>
              <a:latin typeface="Times New Roman" panose="02020603050405020304" pitchFamily="18" charset="0"/>
              <a:cs typeface="Times New Roman" panose="02020603050405020304" pitchFamily="18" charset="0"/>
            </a:endParaRPr>
          </a:p>
        </p:txBody>
      </p:sp>
      <p:pic>
        <p:nvPicPr>
          <p:cNvPr id="1026" name="Picture 2" descr="American International University-Bangladesh - Wikipedia"/>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7926" y="253981"/>
            <a:ext cx="1200150" cy="1200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down)">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fade">
                                      <p:cBhvr>
                                        <p:cTn id="17" dur="1000"/>
                                        <p:tgtEl>
                                          <p:spTgt spid="87"/>
                                        </p:tgtEl>
                                      </p:cBhvr>
                                    </p:animEffect>
                                    <p:anim calcmode="lin" valueType="num">
                                      <p:cBhvr>
                                        <p:cTn id="18" dur="1000" fill="hold"/>
                                        <p:tgtEl>
                                          <p:spTgt spid="87"/>
                                        </p:tgtEl>
                                        <p:attrNameLst>
                                          <p:attrName>ppt_x</p:attrName>
                                        </p:attrNameLst>
                                      </p:cBhvr>
                                      <p:tavLst>
                                        <p:tav tm="0">
                                          <p:val>
                                            <p:strVal val="#ppt_x"/>
                                          </p:val>
                                        </p:tav>
                                        <p:tav tm="100000">
                                          <p:val>
                                            <p:strVal val="#ppt_x"/>
                                          </p:val>
                                        </p:tav>
                                      </p:tavLst>
                                    </p:anim>
                                    <p:anim calcmode="lin" valueType="num">
                                      <p:cBhvr>
                                        <p:cTn id="19" dur="1000" fill="hold"/>
                                        <p:tgtEl>
                                          <p:spTgt spid="8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fade">
                                      <p:cBhvr>
                                        <p:cTn id="22" dur="1000"/>
                                        <p:tgtEl>
                                          <p:spTgt spid="85"/>
                                        </p:tgtEl>
                                      </p:cBhvr>
                                    </p:animEffect>
                                    <p:anim calcmode="lin" valueType="num">
                                      <p:cBhvr>
                                        <p:cTn id="23" dur="1000" fill="hold"/>
                                        <p:tgtEl>
                                          <p:spTgt spid="85"/>
                                        </p:tgtEl>
                                        <p:attrNameLst>
                                          <p:attrName>ppt_x</p:attrName>
                                        </p:attrNameLst>
                                      </p:cBhvr>
                                      <p:tavLst>
                                        <p:tav tm="0">
                                          <p:val>
                                            <p:strVal val="#ppt_x"/>
                                          </p:val>
                                        </p:tav>
                                        <p:tav tm="100000">
                                          <p:val>
                                            <p:strVal val="#ppt_x"/>
                                          </p:val>
                                        </p:tav>
                                      </p:tavLst>
                                    </p:anim>
                                    <p:anim calcmode="lin" valueType="num">
                                      <p:cBhvr>
                                        <p:cTn id="24" dur="1000" fill="hold"/>
                                        <p:tgtEl>
                                          <p:spTgt spid="8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6"/>
                                        </p:tgtEl>
                                        <p:attrNameLst>
                                          <p:attrName>style.visibility</p:attrName>
                                        </p:attrNameLst>
                                      </p:cBhvr>
                                      <p:to>
                                        <p:strVal val="visible"/>
                                      </p:to>
                                    </p:set>
                                    <p:animEffect transition="in" filter="fade">
                                      <p:cBhvr>
                                        <p:cTn id="27" dur="1000"/>
                                        <p:tgtEl>
                                          <p:spTgt spid="86"/>
                                        </p:tgtEl>
                                      </p:cBhvr>
                                    </p:animEffect>
                                    <p:anim calcmode="lin" valueType="num">
                                      <p:cBhvr>
                                        <p:cTn id="28" dur="1000" fill="hold"/>
                                        <p:tgtEl>
                                          <p:spTgt spid="86"/>
                                        </p:tgtEl>
                                        <p:attrNameLst>
                                          <p:attrName>ppt_x</p:attrName>
                                        </p:attrNameLst>
                                      </p:cBhvr>
                                      <p:tavLst>
                                        <p:tav tm="0">
                                          <p:val>
                                            <p:strVal val="#ppt_x"/>
                                          </p:val>
                                        </p:tav>
                                        <p:tav tm="100000">
                                          <p:val>
                                            <p:strVal val="#ppt_x"/>
                                          </p:val>
                                        </p:tav>
                                      </p:tavLst>
                                    </p:anim>
                                    <p:anim calcmode="lin" valueType="num">
                                      <p:cBhvr>
                                        <p:cTn id="29" dur="1000" fill="hold"/>
                                        <p:tgtEl>
                                          <p:spTgt spid="8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026"/>
                                        </p:tgtEl>
                                        <p:attrNameLst>
                                          <p:attrName>style.visibility</p:attrName>
                                        </p:attrNameLst>
                                      </p:cBhvr>
                                      <p:to>
                                        <p:strVal val="visible"/>
                                      </p:to>
                                    </p:set>
                                    <p:animEffect transition="in" filter="fade">
                                      <p:cBhvr>
                                        <p:cTn id="34" dur="1000"/>
                                        <p:tgtEl>
                                          <p:spTgt spid="1026"/>
                                        </p:tgtEl>
                                      </p:cBhvr>
                                    </p:animEffect>
                                    <p:anim calcmode="lin" valueType="num">
                                      <p:cBhvr>
                                        <p:cTn id="35" dur="1000" fill="hold"/>
                                        <p:tgtEl>
                                          <p:spTgt spid="1026"/>
                                        </p:tgtEl>
                                        <p:attrNameLst>
                                          <p:attrName>ppt_x</p:attrName>
                                        </p:attrNameLst>
                                      </p:cBhvr>
                                      <p:tavLst>
                                        <p:tav tm="0">
                                          <p:val>
                                            <p:strVal val="#ppt_x"/>
                                          </p:val>
                                        </p:tav>
                                        <p:tav tm="100000">
                                          <p:val>
                                            <p:strVal val="#ppt_x"/>
                                          </p:val>
                                        </p:tav>
                                      </p:tavLst>
                                    </p:anim>
                                    <p:anim calcmode="lin" valueType="num">
                                      <p:cBhvr>
                                        <p:cTn id="36" dur="1000" fill="hold"/>
                                        <p:tgtEl>
                                          <p:spTgt spid="102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1000"/>
                                        <p:tgtEl>
                                          <p:spTgt spid="14"/>
                                        </p:tgtEl>
                                      </p:cBhvr>
                                    </p:animEffect>
                                    <p:anim calcmode="lin" valueType="num">
                                      <p:cBhvr>
                                        <p:cTn id="40" dur="1000" fill="hold"/>
                                        <p:tgtEl>
                                          <p:spTgt spid="14"/>
                                        </p:tgtEl>
                                        <p:attrNameLst>
                                          <p:attrName>ppt_x</p:attrName>
                                        </p:attrNameLst>
                                      </p:cBhvr>
                                      <p:tavLst>
                                        <p:tav tm="0">
                                          <p:val>
                                            <p:strVal val="#ppt_x"/>
                                          </p:val>
                                        </p:tav>
                                        <p:tav tm="100000">
                                          <p:val>
                                            <p:strVal val="#ppt_x"/>
                                          </p:val>
                                        </p:tav>
                                      </p:tavLst>
                                    </p:anim>
                                    <p:anim calcmode="lin" valueType="num">
                                      <p:cBhvr>
                                        <p:cTn id="41" dur="1000" fill="hold"/>
                                        <p:tgtEl>
                                          <p:spTgt spid="14"/>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89"/>
                                        </p:tgtEl>
                                        <p:attrNameLst>
                                          <p:attrName>style.visibility</p:attrName>
                                        </p:attrNameLst>
                                      </p:cBhvr>
                                      <p:to>
                                        <p:strVal val="visible"/>
                                      </p:to>
                                    </p:set>
                                    <p:animEffect transition="in" filter="fade">
                                      <p:cBhvr>
                                        <p:cTn id="44" dur="1000"/>
                                        <p:tgtEl>
                                          <p:spTgt spid="89"/>
                                        </p:tgtEl>
                                      </p:cBhvr>
                                    </p:animEffect>
                                    <p:anim calcmode="lin" valueType="num">
                                      <p:cBhvr>
                                        <p:cTn id="45" dur="1000" fill="hold"/>
                                        <p:tgtEl>
                                          <p:spTgt spid="89"/>
                                        </p:tgtEl>
                                        <p:attrNameLst>
                                          <p:attrName>ppt_x</p:attrName>
                                        </p:attrNameLst>
                                      </p:cBhvr>
                                      <p:tavLst>
                                        <p:tav tm="0">
                                          <p:val>
                                            <p:strVal val="#ppt_x"/>
                                          </p:val>
                                        </p:tav>
                                        <p:tav tm="100000">
                                          <p:val>
                                            <p:strVal val="#ppt_x"/>
                                          </p:val>
                                        </p:tav>
                                      </p:tavLst>
                                    </p:anim>
                                    <p:anim calcmode="lin" valueType="num">
                                      <p:cBhvr>
                                        <p:cTn id="46" dur="1000" fill="hold"/>
                                        <p:tgtEl>
                                          <p:spTgt spid="8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90"/>
                                        </p:tgtEl>
                                        <p:attrNameLst>
                                          <p:attrName>style.visibility</p:attrName>
                                        </p:attrNameLst>
                                      </p:cBhvr>
                                      <p:to>
                                        <p:strVal val="visible"/>
                                      </p:to>
                                    </p:set>
                                    <p:animEffect transition="in" filter="fade">
                                      <p:cBhvr>
                                        <p:cTn id="49" dur="1000"/>
                                        <p:tgtEl>
                                          <p:spTgt spid="90"/>
                                        </p:tgtEl>
                                      </p:cBhvr>
                                    </p:animEffect>
                                    <p:anim calcmode="lin" valueType="num">
                                      <p:cBhvr>
                                        <p:cTn id="50" dur="1000" fill="hold"/>
                                        <p:tgtEl>
                                          <p:spTgt spid="90"/>
                                        </p:tgtEl>
                                        <p:attrNameLst>
                                          <p:attrName>ppt_x</p:attrName>
                                        </p:attrNameLst>
                                      </p:cBhvr>
                                      <p:tavLst>
                                        <p:tav tm="0">
                                          <p:val>
                                            <p:strVal val="#ppt_x"/>
                                          </p:val>
                                        </p:tav>
                                        <p:tav tm="100000">
                                          <p:val>
                                            <p:strVal val="#ppt_x"/>
                                          </p:val>
                                        </p:tav>
                                      </p:tavLst>
                                    </p:anim>
                                    <p:anim calcmode="lin" valueType="num">
                                      <p:cBhvr>
                                        <p:cTn id="51" dur="1000" fill="hold"/>
                                        <p:tgtEl>
                                          <p:spTgt spid="9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92"/>
                                        </p:tgtEl>
                                        <p:attrNameLst>
                                          <p:attrName>style.visibility</p:attrName>
                                        </p:attrNameLst>
                                      </p:cBhvr>
                                      <p:to>
                                        <p:strVal val="visible"/>
                                      </p:to>
                                    </p:set>
                                    <p:animEffect transition="in" filter="fade">
                                      <p:cBhvr>
                                        <p:cTn id="54" dur="1000"/>
                                        <p:tgtEl>
                                          <p:spTgt spid="92"/>
                                        </p:tgtEl>
                                      </p:cBhvr>
                                    </p:animEffect>
                                    <p:anim calcmode="lin" valueType="num">
                                      <p:cBhvr>
                                        <p:cTn id="55" dur="1000" fill="hold"/>
                                        <p:tgtEl>
                                          <p:spTgt spid="92"/>
                                        </p:tgtEl>
                                        <p:attrNameLst>
                                          <p:attrName>ppt_x</p:attrName>
                                        </p:attrNameLst>
                                      </p:cBhvr>
                                      <p:tavLst>
                                        <p:tav tm="0">
                                          <p:val>
                                            <p:strVal val="#ppt_x"/>
                                          </p:val>
                                        </p:tav>
                                        <p:tav tm="100000">
                                          <p:val>
                                            <p:strVal val="#ppt_x"/>
                                          </p:val>
                                        </p:tav>
                                      </p:tavLst>
                                    </p:anim>
                                    <p:anim calcmode="lin" valueType="num">
                                      <p:cBhvr>
                                        <p:cTn id="56"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91"/>
                                        </p:tgtEl>
                                        <p:attrNameLst>
                                          <p:attrName>style.visibility</p:attrName>
                                        </p:attrNameLst>
                                      </p:cBhvr>
                                      <p:to>
                                        <p:strVal val="visible"/>
                                      </p:to>
                                    </p:set>
                                    <p:animEffect transition="in" filter="fade">
                                      <p:cBhvr>
                                        <p:cTn id="61" dur="1000"/>
                                        <p:tgtEl>
                                          <p:spTgt spid="91"/>
                                        </p:tgtEl>
                                      </p:cBhvr>
                                    </p:animEffect>
                                    <p:anim calcmode="lin" valueType="num">
                                      <p:cBhvr>
                                        <p:cTn id="62" dur="1000" fill="hold"/>
                                        <p:tgtEl>
                                          <p:spTgt spid="91"/>
                                        </p:tgtEl>
                                        <p:attrNameLst>
                                          <p:attrName>ppt_x</p:attrName>
                                        </p:attrNameLst>
                                      </p:cBhvr>
                                      <p:tavLst>
                                        <p:tav tm="0">
                                          <p:val>
                                            <p:strVal val="#ppt_x"/>
                                          </p:val>
                                        </p:tav>
                                        <p:tav tm="100000">
                                          <p:val>
                                            <p:strVal val="#ppt_x"/>
                                          </p:val>
                                        </p:tav>
                                      </p:tavLst>
                                    </p:anim>
                                    <p:anim calcmode="lin" valueType="num">
                                      <p:cBhvr>
                                        <p:cTn id="63" dur="1000" fill="hold"/>
                                        <p:tgtEl>
                                          <p:spTgt spid="91"/>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93"/>
                                        </p:tgtEl>
                                        <p:attrNameLst>
                                          <p:attrName>style.visibility</p:attrName>
                                        </p:attrNameLst>
                                      </p:cBhvr>
                                      <p:to>
                                        <p:strVal val="visible"/>
                                      </p:to>
                                    </p:set>
                                    <p:animEffect transition="in" filter="fade">
                                      <p:cBhvr>
                                        <p:cTn id="66" dur="1000"/>
                                        <p:tgtEl>
                                          <p:spTgt spid="93"/>
                                        </p:tgtEl>
                                      </p:cBhvr>
                                    </p:animEffect>
                                    <p:anim calcmode="lin" valueType="num">
                                      <p:cBhvr>
                                        <p:cTn id="67" dur="1000" fill="hold"/>
                                        <p:tgtEl>
                                          <p:spTgt spid="93"/>
                                        </p:tgtEl>
                                        <p:attrNameLst>
                                          <p:attrName>ppt_x</p:attrName>
                                        </p:attrNameLst>
                                      </p:cBhvr>
                                      <p:tavLst>
                                        <p:tav tm="0">
                                          <p:val>
                                            <p:strVal val="#ppt_x"/>
                                          </p:val>
                                        </p:tav>
                                        <p:tav tm="100000">
                                          <p:val>
                                            <p:strVal val="#ppt_x"/>
                                          </p:val>
                                        </p:tav>
                                      </p:tavLst>
                                    </p:anim>
                                    <p:anim calcmode="lin" valueType="num">
                                      <p:cBhvr>
                                        <p:cTn id="68" dur="1000" fill="hold"/>
                                        <p:tgtEl>
                                          <p:spTgt spid="9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0" grpId="0"/>
      <p:bldP spid="92"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p:nvPr/>
        </p:nvSpPr>
        <p:spPr>
          <a:xfrm>
            <a:off x="571500" y="47625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F766E"/>
                </a:solidFill>
                <a:latin typeface="Times New Roman" panose="02020603050405020304" pitchFamily="18" charset="0"/>
                <a:ea typeface="Poppins SemiBold"/>
                <a:cs typeface="Times New Roman" panose="02020603050405020304" pitchFamily="18" charset="0"/>
                <a:sym typeface="Poppins SemiBold"/>
              </a:rPr>
              <a:t>Presentation Overview</a:t>
            </a:r>
            <a:endParaRPr b="1" dirty="0">
              <a:latin typeface="Times New Roman" panose="02020603050405020304" pitchFamily="18" charset="0"/>
              <a:cs typeface="Times New Roman" panose="02020603050405020304" pitchFamily="18" charset="0"/>
            </a:endParaRPr>
          </a:p>
        </p:txBody>
      </p:sp>
      <p:sp>
        <p:nvSpPr>
          <p:cNvPr id="100" name="Google Shape;100;p14"/>
          <p:cNvSpPr/>
          <p:nvPr/>
        </p:nvSpPr>
        <p:spPr>
          <a:xfrm>
            <a:off x="571500" y="1219200"/>
            <a:ext cx="11049000" cy="28575"/>
          </a:xfrm>
          <a:prstGeom prst="rect">
            <a:avLst/>
          </a:prstGeom>
          <a:solidFill>
            <a:srgbClr val="CCFB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pic>
        <p:nvPicPr>
          <p:cNvPr id="101" name="Google Shape;101;p14" descr="image.png"/>
          <p:cNvPicPr preferRelativeResize="0"/>
          <p:nvPr/>
        </p:nvPicPr>
        <p:blipFill rotWithShape="1">
          <a:blip r:embed="rId3"/>
          <a:srcRect/>
          <a:stretch>
            <a:fillRect/>
          </a:stretch>
        </p:blipFill>
        <p:spPr>
          <a:xfrm>
            <a:off x="7548562" y="2528887"/>
            <a:ext cx="2857500" cy="2857500"/>
          </a:xfrm>
          <a:prstGeom prst="rect">
            <a:avLst/>
          </a:prstGeom>
          <a:noFill/>
          <a:ln>
            <a:noFill/>
          </a:ln>
        </p:spPr>
      </p:pic>
      <p:sp>
        <p:nvSpPr>
          <p:cNvPr id="102" name="Google Shape;102;p14"/>
          <p:cNvSpPr/>
          <p:nvPr/>
        </p:nvSpPr>
        <p:spPr>
          <a:xfrm>
            <a:off x="571500" y="2056507"/>
            <a:ext cx="2452687" cy="746670"/>
          </a:xfrm>
          <a:prstGeom prst="roundRect">
            <a:avLst>
              <a:gd name="adj" fmla="val 10205"/>
            </a:avLst>
          </a:prstGeom>
          <a:solidFill>
            <a:srgbClr val="F0FD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3" name="Google Shape;103;p14"/>
          <p:cNvSpPr txBox="1"/>
          <p:nvPr/>
        </p:nvSpPr>
        <p:spPr>
          <a:xfrm>
            <a:off x="809625" y="2245176"/>
            <a:ext cx="1976437" cy="369332"/>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Times New Roman" panose="02020603050405020304" pitchFamily="18" charset="0"/>
                <a:ea typeface="Lato"/>
                <a:cs typeface="Times New Roman" panose="02020603050405020304" pitchFamily="18" charset="0"/>
                <a:sym typeface="Lato"/>
              </a:rPr>
              <a:t>Abstract</a:t>
            </a:r>
            <a:endParaRPr b="1" dirty="0">
              <a:latin typeface="Times New Roman" panose="02020603050405020304" pitchFamily="18" charset="0"/>
              <a:cs typeface="Times New Roman" panose="02020603050405020304" pitchFamily="18" charset="0"/>
            </a:endParaRPr>
          </a:p>
        </p:txBody>
      </p:sp>
      <p:sp>
        <p:nvSpPr>
          <p:cNvPr id="104" name="Google Shape;104;p14"/>
          <p:cNvSpPr/>
          <p:nvPr/>
        </p:nvSpPr>
        <p:spPr>
          <a:xfrm>
            <a:off x="3405187" y="2056507"/>
            <a:ext cx="2452687" cy="746670"/>
          </a:xfrm>
          <a:prstGeom prst="roundRect">
            <a:avLst>
              <a:gd name="adj" fmla="val 10205"/>
            </a:avLst>
          </a:prstGeom>
          <a:solidFill>
            <a:srgbClr val="F0FD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5" name="Google Shape;105;p14"/>
          <p:cNvSpPr/>
          <p:nvPr/>
        </p:nvSpPr>
        <p:spPr>
          <a:xfrm>
            <a:off x="571500" y="2056507"/>
            <a:ext cx="47625" cy="74667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6" name="Google Shape;106;p14"/>
          <p:cNvSpPr txBox="1"/>
          <p:nvPr/>
        </p:nvSpPr>
        <p:spPr>
          <a:xfrm>
            <a:off x="3643312" y="2245176"/>
            <a:ext cx="1976437" cy="369332"/>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Times New Roman" panose="02020603050405020304" pitchFamily="18" charset="0"/>
                <a:ea typeface="Lato"/>
                <a:cs typeface="Times New Roman" panose="02020603050405020304" pitchFamily="18" charset="0"/>
                <a:sym typeface="Lato"/>
              </a:rPr>
              <a:t>Introduction</a:t>
            </a:r>
            <a:endParaRPr b="1" dirty="0">
              <a:latin typeface="Times New Roman" panose="02020603050405020304" pitchFamily="18" charset="0"/>
              <a:cs typeface="Times New Roman" panose="02020603050405020304" pitchFamily="18" charset="0"/>
            </a:endParaRPr>
          </a:p>
        </p:txBody>
      </p:sp>
      <p:sp>
        <p:nvSpPr>
          <p:cNvPr id="107" name="Google Shape;107;p14"/>
          <p:cNvSpPr/>
          <p:nvPr/>
        </p:nvSpPr>
        <p:spPr>
          <a:xfrm>
            <a:off x="571500" y="2993677"/>
            <a:ext cx="2452687" cy="746670"/>
          </a:xfrm>
          <a:prstGeom prst="roundRect">
            <a:avLst>
              <a:gd name="adj" fmla="val 10205"/>
            </a:avLst>
          </a:prstGeom>
          <a:solidFill>
            <a:srgbClr val="F0FD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8" name="Google Shape;108;p14"/>
          <p:cNvSpPr/>
          <p:nvPr/>
        </p:nvSpPr>
        <p:spPr>
          <a:xfrm>
            <a:off x="3405187" y="2056507"/>
            <a:ext cx="47625" cy="74667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9" name="Google Shape;109;p14"/>
          <p:cNvSpPr txBox="1"/>
          <p:nvPr/>
        </p:nvSpPr>
        <p:spPr>
          <a:xfrm>
            <a:off x="809625" y="3182346"/>
            <a:ext cx="1976437" cy="369332"/>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Times New Roman" panose="02020603050405020304" pitchFamily="18" charset="0"/>
                <a:ea typeface="Lato"/>
                <a:cs typeface="Times New Roman" panose="02020603050405020304" pitchFamily="18" charset="0"/>
                <a:sym typeface="Lato"/>
              </a:rPr>
              <a:t>Data Source</a:t>
            </a:r>
            <a:endParaRPr b="1" dirty="0">
              <a:latin typeface="Times New Roman" panose="02020603050405020304" pitchFamily="18" charset="0"/>
              <a:cs typeface="Times New Roman" panose="02020603050405020304" pitchFamily="18" charset="0"/>
            </a:endParaRPr>
          </a:p>
        </p:txBody>
      </p:sp>
      <p:sp>
        <p:nvSpPr>
          <p:cNvPr id="110" name="Google Shape;110;p14"/>
          <p:cNvSpPr/>
          <p:nvPr/>
        </p:nvSpPr>
        <p:spPr>
          <a:xfrm>
            <a:off x="3405187" y="2993677"/>
            <a:ext cx="2452687" cy="746670"/>
          </a:xfrm>
          <a:prstGeom prst="roundRect">
            <a:avLst>
              <a:gd name="adj" fmla="val 10205"/>
            </a:avLst>
          </a:prstGeom>
          <a:solidFill>
            <a:srgbClr val="F0FD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1" name="Google Shape;111;p14"/>
          <p:cNvSpPr/>
          <p:nvPr/>
        </p:nvSpPr>
        <p:spPr>
          <a:xfrm>
            <a:off x="571500" y="2993677"/>
            <a:ext cx="47625" cy="74667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2" name="Google Shape;112;p14"/>
          <p:cNvSpPr txBox="1"/>
          <p:nvPr/>
        </p:nvSpPr>
        <p:spPr>
          <a:xfrm>
            <a:off x="3643312" y="3182346"/>
            <a:ext cx="1976437" cy="369332"/>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Times New Roman" panose="02020603050405020304" pitchFamily="18" charset="0"/>
                <a:ea typeface="Lato"/>
                <a:cs typeface="Times New Roman" panose="02020603050405020304" pitchFamily="18" charset="0"/>
                <a:sym typeface="Lato"/>
              </a:rPr>
              <a:t>Methodology</a:t>
            </a:r>
            <a:endParaRPr b="1" dirty="0">
              <a:latin typeface="Times New Roman" panose="02020603050405020304" pitchFamily="18" charset="0"/>
              <a:cs typeface="Times New Roman" panose="02020603050405020304" pitchFamily="18" charset="0"/>
            </a:endParaRPr>
          </a:p>
        </p:txBody>
      </p:sp>
      <p:sp>
        <p:nvSpPr>
          <p:cNvPr id="113" name="Google Shape;113;p14"/>
          <p:cNvSpPr/>
          <p:nvPr/>
        </p:nvSpPr>
        <p:spPr>
          <a:xfrm>
            <a:off x="571500" y="3930848"/>
            <a:ext cx="2452687" cy="990600"/>
          </a:xfrm>
          <a:prstGeom prst="roundRect">
            <a:avLst>
              <a:gd name="adj" fmla="val 7692"/>
            </a:avLst>
          </a:prstGeom>
          <a:solidFill>
            <a:srgbClr val="F0FD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4" name="Google Shape;114;p14"/>
          <p:cNvSpPr/>
          <p:nvPr/>
        </p:nvSpPr>
        <p:spPr>
          <a:xfrm>
            <a:off x="3405187" y="2993677"/>
            <a:ext cx="47625" cy="74667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5" name="Google Shape;115;p14"/>
          <p:cNvSpPr txBox="1"/>
          <p:nvPr/>
        </p:nvSpPr>
        <p:spPr>
          <a:xfrm>
            <a:off x="809625" y="4241482"/>
            <a:ext cx="1976437" cy="369332"/>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Times New Roman" panose="02020603050405020304" pitchFamily="18" charset="0"/>
                <a:ea typeface="Lato"/>
                <a:cs typeface="Times New Roman" panose="02020603050405020304" pitchFamily="18" charset="0"/>
                <a:sym typeface="Lato"/>
              </a:rPr>
              <a:t>Analysis (Results)</a:t>
            </a:r>
            <a:endParaRPr b="1" dirty="0">
              <a:latin typeface="Times New Roman" panose="02020603050405020304" pitchFamily="18" charset="0"/>
              <a:cs typeface="Times New Roman" panose="02020603050405020304" pitchFamily="18" charset="0"/>
            </a:endParaRPr>
          </a:p>
        </p:txBody>
      </p:sp>
      <p:sp>
        <p:nvSpPr>
          <p:cNvPr id="116" name="Google Shape;116;p14"/>
          <p:cNvSpPr/>
          <p:nvPr/>
        </p:nvSpPr>
        <p:spPr>
          <a:xfrm>
            <a:off x="3405187" y="3930848"/>
            <a:ext cx="2452687" cy="990600"/>
          </a:xfrm>
          <a:prstGeom prst="roundRect">
            <a:avLst>
              <a:gd name="adj" fmla="val 7692"/>
            </a:avLst>
          </a:prstGeom>
          <a:solidFill>
            <a:srgbClr val="F0FD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7" name="Google Shape;117;p14"/>
          <p:cNvSpPr/>
          <p:nvPr/>
        </p:nvSpPr>
        <p:spPr>
          <a:xfrm>
            <a:off x="571500" y="3930848"/>
            <a:ext cx="47625" cy="9906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8" name="Google Shape;118;p14"/>
          <p:cNvSpPr txBox="1"/>
          <p:nvPr/>
        </p:nvSpPr>
        <p:spPr>
          <a:xfrm>
            <a:off x="3643312" y="4241482"/>
            <a:ext cx="1976437" cy="369332"/>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Times New Roman" panose="02020603050405020304" pitchFamily="18" charset="0"/>
                <a:ea typeface="Lato"/>
                <a:cs typeface="Times New Roman" panose="02020603050405020304" pitchFamily="18" charset="0"/>
                <a:sym typeface="Lato"/>
              </a:rPr>
              <a:t>Discussion</a:t>
            </a:r>
            <a:endParaRPr b="1" dirty="0">
              <a:latin typeface="Times New Roman" panose="02020603050405020304" pitchFamily="18" charset="0"/>
              <a:cs typeface="Times New Roman" panose="02020603050405020304" pitchFamily="18" charset="0"/>
            </a:endParaRPr>
          </a:p>
        </p:txBody>
      </p:sp>
      <p:sp>
        <p:nvSpPr>
          <p:cNvPr id="119" name="Google Shape;119;p14"/>
          <p:cNvSpPr/>
          <p:nvPr/>
        </p:nvSpPr>
        <p:spPr>
          <a:xfrm>
            <a:off x="571500" y="5111948"/>
            <a:ext cx="2452687" cy="746670"/>
          </a:xfrm>
          <a:prstGeom prst="roundRect">
            <a:avLst>
              <a:gd name="adj" fmla="val 10205"/>
            </a:avLst>
          </a:prstGeom>
          <a:solidFill>
            <a:srgbClr val="F0FD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20" name="Google Shape;120;p14"/>
          <p:cNvSpPr/>
          <p:nvPr/>
        </p:nvSpPr>
        <p:spPr>
          <a:xfrm>
            <a:off x="3405187" y="3930848"/>
            <a:ext cx="47625" cy="9906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21" name="Google Shape;121;p14"/>
          <p:cNvSpPr txBox="1"/>
          <p:nvPr/>
        </p:nvSpPr>
        <p:spPr>
          <a:xfrm>
            <a:off x="809625" y="5300617"/>
            <a:ext cx="1976437" cy="369332"/>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500" b="1" i="0" u="none" strike="noStrike" cap="none" dirty="0">
                <a:solidFill>
                  <a:srgbClr val="334155"/>
                </a:solidFill>
                <a:latin typeface="Times New Roman" panose="02020603050405020304" pitchFamily="18" charset="0"/>
                <a:ea typeface="Lato"/>
                <a:cs typeface="Times New Roman" panose="02020603050405020304" pitchFamily="18" charset="0"/>
                <a:sym typeface="Lato"/>
              </a:rPr>
              <a:t>Conclusion</a:t>
            </a:r>
            <a:endParaRPr b="1" dirty="0">
              <a:latin typeface="Times New Roman" panose="02020603050405020304" pitchFamily="18" charset="0"/>
              <a:cs typeface="Times New Roman" panose="02020603050405020304" pitchFamily="18" charset="0"/>
            </a:endParaRPr>
          </a:p>
        </p:txBody>
      </p:sp>
      <p:sp>
        <p:nvSpPr>
          <p:cNvPr id="122" name="Google Shape;122;p14"/>
          <p:cNvSpPr/>
          <p:nvPr/>
        </p:nvSpPr>
        <p:spPr>
          <a:xfrm>
            <a:off x="571500" y="5111948"/>
            <a:ext cx="47625" cy="74667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pic>
        <p:nvPicPr>
          <p:cNvPr id="123" name="Google Shape;123;p14" descr="image.png"/>
          <p:cNvPicPr preferRelativeResize="0"/>
          <p:nvPr/>
        </p:nvPicPr>
        <p:blipFill rotWithShape="1">
          <a:blip r:embed="rId4"/>
          <a:srcRect/>
          <a:stretch>
            <a:fillRect/>
          </a:stretch>
        </p:blipFill>
        <p:spPr>
          <a:xfrm>
            <a:off x="8334375" y="3386137"/>
            <a:ext cx="1285875" cy="1143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1000"/>
                                        <p:tgtEl>
                                          <p:spTgt spid="101"/>
                                        </p:tgtEl>
                                      </p:cBhvr>
                                    </p:animEffect>
                                    <p:anim calcmode="lin" valueType="num">
                                      <p:cBhvr>
                                        <p:cTn id="8" dur="1000" fill="hold"/>
                                        <p:tgtEl>
                                          <p:spTgt spid="101"/>
                                        </p:tgtEl>
                                        <p:attrNameLst>
                                          <p:attrName>ppt_x</p:attrName>
                                        </p:attrNameLst>
                                      </p:cBhvr>
                                      <p:tavLst>
                                        <p:tav tm="0">
                                          <p:val>
                                            <p:strVal val="#ppt_x"/>
                                          </p:val>
                                        </p:tav>
                                        <p:tav tm="100000">
                                          <p:val>
                                            <p:strVal val="#ppt_x"/>
                                          </p:val>
                                        </p:tav>
                                      </p:tavLst>
                                    </p:anim>
                                    <p:anim calcmode="lin" valueType="num">
                                      <p:cBhvr>
                                        <p:cTn id="9" dur="1000" fill="hold"/>
                                        <p:tgtEl>
                                          <p:spTgt spid="101"/>
                                        </p:tgtEl>
                                        <p:attrNameLst>
                                          <p:attrName>ppt_y</p:attrName>
                                        </p:attrNameLst>
                                      </p:cBhvr>
                                      <p:tavLst>
                                        <p:tav tm="0">
                                          <p:val>
                                            <p:strVal val="#ppt_y+.1"/>
                                          </p:val>
                                        </p:tav>
                                        <p:tav tm="100000">
                                          <p:val>
                                            <p:strVal val="#ppt_y"/>
                                          </p:val>
                                        </p:tav>
                                      </p:tavLst>
                                    </p:anim>
                                  </p:childTnLst>
                                </p:cTn>
                              </p:par>
                              <p:par>
                                <p:cTn id="10" presetID="6" presetClass="entr" presetSubtype="16" fill="hold" grpId="0" nodeType="with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circle(in)">
                                      <p:cBhvr>
                                        <p:cTn id="12" dur="20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3"/>
                                        </p:tgtEl>
                                        <p:attrNameLst>
                                          <p:attrName>style.visibility</p:attrName>
                                        </p:attrNameLst>
                                      </p:cBhvr>
                                      <p:to>
                                        <p:strVal val="visible"/>
                                      </p:to>
                                    </p:set>
                                    <p:anim calcmode="lin" valueType="num">
                                      <p:cBhvr additive="base">
                                        <p:cTn id="17" dur="500" fill="hold"/>
                                        <p:tgtEl>
                                          <p:spTgt spid="123"/>
                                        </p:tgtEl>
                                        <p:attrNameLst>
                                          <p:attrName>ppt_x</p:attrName>
                                        </p:attrNameLst>
                                      </p:cBhvr>
                                      <p:tavLst>
                                        <p:tav tm="0">
                                          <p:val>
                                            <p:strVal val="#ppt_x"/>
                                          </p:val>
                                        </p:tav>
                                        <p:tav tm="100000">
                                          <p:val>
                                            <p:strVal val="#ppt_x"/>
                                          </p:val>
                                        </p:tav>
                                      </p:tavLst>
                                    </p:anim>
                                    <p:anim calcmode="lin" valueType="num">
                                      <p:cBhvr additive="base">
                                        <p:cTn id="18" dur="500" fill="hold"/>
                                        <p:tgtEl>
                                          <p:spTgt spid="12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5"/>
                                        </p:tgtEl>
                                        <p:attrNameLst>
                                          <p:attrName>style.visibility</p:attrName>
                                        </p:attrNameLst>
                                      </p:cBhvr>
                                      <p:to>
                                        <p:strVal val="visible"/>
                                      </p:to>
                                    </p:set>
                                    <p:anim calcmode="lin" valueType="num">
                                      <p:cBhvr additive="base">
                                        <p:cTn id="21" dur="500" fill="hold"/>
                                        <p:tgtEl>
                                          <p:spTgt spid="105"/>
                                        </p:tgtEl>
                                        <p:attrNameLst>
                                          <p:attrName>ppt_x</p:attrName>
                                        </p:attrNameLst>
                                      </p:cBhvr>
                                      <p:tavLst>
                                        <p:tav tm="0">
                                          <p:val>
                                            <p:strVal val="#ppt_x"/>
                                          </p:val>
                                        </p:tav>
                                        <p:tav tm="100000">
                                          <p:val>
                                            <p:strVal val="#ppt_x"/>
                                          </p:val>
                                        </p:tav>
                                      </p:tavLst>
                                    </p:anim>
                                    <p:anim calcmode="lin" valueType="num">
                                      <p:cBhvr additive="base">
                                        <p:cTn id="22" dur="500" fill="hold"/>
                                        <p:tgtEl>
                                          <p:spTgt spid="10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2"/>
                                        </p:tgtEl>
                                        <p:attrNameLst>
                                          <p:attrName>style.visibility</p:attrName>
                                        </p:attrNameLst>
                                      </p:cBhvr>
                                      <p:to>
                                        <p:strVal val="visible"/>
                                      </p:to>
                                    </p:set>
                                    <p:anim calcmode="lin" valueType="num">
                                      <p:cBhvr additive="base">
                                        <p:cTn id="25" dur="500" fill="hold"/>
                                        <p:tgtEl>
                                          <p:spTgt spid="102"/>
                                        </p:tgtEl>
                                        <p:attrNameLst>
                                          <p:attrName>ppt_x</p:attrName>
                                        </p:attrNameLst>
                                      </p:cBhvr>
                                      <p:tavLst>
                                        <p:tav tm="0">
                                          <p:val>
                                            <p:strVal val="#ppt_x"/>
                                          </p:val>
                                        </p:tav>
                                        <p:tav tm="100000">
                                          <p:val>
                                            <p:strVal val="#ppt_x"/>
                                          </p:val>
                                        </p:tav>
                                      </p:tavLst>
                                    </p:anim>
                                    <p:anim calcmode="lin" valueType="num">
                                      <p:cBhvr additive="base">
                                        <p:cTn id="26" dur="500" fill="hold"/>
                                        <p:tgtEl>
                                          <p:spTgt spid="10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8"/>
                                        </p:tgtEl>
                                        <p:attrNameLst>
                                          <p:attrName>style.visibility</p:attrName>
                                        </p:attrNameLst>
                                      </p:cBhvr>
                                      <p:to>
                                        <p:strVal val="visible"/>
                                      </p:to>
                                    </p:set>
                                    <p:anim calcmode="lin" valueType="num">
                                      <p:cBhvr additive="base">
                                        <p:cTn id="29" dur="500" fill="hold"/>
                                        <p:tgtEl>
                                          <p:spTgt spid="108"/>
                                        </p:tgtEl>
                                        <p:attrNameLst>
                                          <p:attrName>ppt_x</p:attrName>
                                        </p:attrNameLst>
                                      </p:cBhvr>
                                      <p:tavLst>
                                        <p:tav tm="0">
                                          <p:val>
                                            <p:strVal val="#ppt_x"/>
                                          </p:val>
                                        </p:tav>
                                        <p:tav tm="100000">
                                          <p:val>
                                            <p:strVal val="#ppt_x"/>
                                          </p:val>
                                        </p:tav>
                                      </p:tavLst>
                                    </p:anim>
                                    <p:anim calcmode="lin" valueType="num">
                                      <p:cBhvr additive="base">
                                        <p:cTn id="30" dur="500" fill="hold"/>
                                        <p:tgtEl>
                                          <p:spTgt spid="10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4"/>
                                        </p:tgtEl>
                                        <p:attrNameLst>
                                          <p:attrName>style.visibility</p:attrName>
                                        </p:attrNameLst>
                                      </p:cBhvr>
                                      <p:to>
                                        <p:strVal val="visible"/>
                                      </p:to>
                                    </p:set>
                                    <p:anim calcmode="lin" valueType="num">
                                      <p:cBhvr additive="base">
                                        <p:cTn id="33" dur="500" fill="hold"/>
                                        <p:tgtEl>
                                          <p:spTgt spid="104"/>
                                        </p:tgtEl>
                                        <p:attrNameLst>
                                          <p:attrName>ppt_x</p:attrName>
                                        </p:attrNameLst>
                                      </p:cBhvr>
                                      <p:tavLst>
                                        <p:tav tm="0">
                                          <p:val>
                                            <p:strVal val="#ppt_x"/>
                                          </p:val>
                                        </p:tav>
                                        <p:tav tm="100000">
                                          <p:val>
                                            <p:strVal val="#ppt_x"/>
                                          </p:val>
                                        </p:tav>
                                      </p:tavLst>
                                    </p:anim>
                                    <p:anim calcmode="lin" valueType="num">
                                      <p:cBhvr additive="base">
                                        <p:cTn id="34" dur="500" fill="hold"/>
                                        <p:tgtEl>
                                          <p:spTgt spid="10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4"/>
                                        </p:tgtEl>
                                        <p:attrNameLst>
                                          <p:attrName>style.visibility</p:attrName>
                                        </p:attrNameLst>
                                      </p:cBhvr>
                                      <p:to>
                                        <p:strVal val="visible"/>
                                      </p:to>
                                    </p:set>
                                    <p:anim calcmode="lin" valueType="num">
                                      <p:cBhvr additive="base">
                                        <p:cTn id="37" dur="500" fill="hold"/>
                                        <p:tgtEl>
                                          <p:spTgt spid="114"/>
                                        </p:tgtEl>
                                        <p:attrNameLst>
                                          <p:attrName>ppt_x</p:attrName>
                                        </p:attrNameLst>
                                      </p:cBhvr>
                                      <p:tavLst>
                                        <p:tav tm="0">
                                          <p:val>
                                            <p:strVal val="#ppt_x"/>
                                          </p:val>
                                        </p:tav>
                                        <p:tav tm="100000">
                                          <p:val>
                                            <p:strVal val="#ppt_x"/>
                                          </p:val>
                                        </p:tav>
                                      </p:tavLst>
                                    </p:anim>
                                    <p:anim calcmode="lin" valueType="num">
                                      <p:cBhvr additive="base">
                                        <p:cTn id="38" dur="500" fill="hold"/>
                                        <p:tgtEl>
                                          <p:spTgt spid="11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0"/>
                                        </p:tgtEl>
                                        <p:attrNameLst>
                                          <p:attrName>style.visibility</p:attrName>
                                        </p:attrNameLst>
                                      </p:cBhvr>
                                      <p:to>
                                        <p:strVal val="visible"/>
                                      </p:to>
                                    </p:set>
                                    <p:anim calcmode="lin" valueType="num">
                                      <p:cBhvr additive="base">
                                        <p:cTn id="41" dur="500" fill="hold"/>
                                        <p:tgtEl>
                                          <p:spTgt spid="110"/>
                                        </p:tgtEl>
                                        <p:attrNameLst>
                                          <p:attrName>ppt_x</p:attrName>
                                        </p:attrNameLst>
                                      </p:cBhvr>
                                      <p:tavLst>
                                        <p:tav tm="0">
                                          <p:val>
                                            <p:strVal val="#ppt_x"/>
                                          </p:val>
                                        </p:tav>
                                        <p:tav tm="100000">
                                          <p:val>
                                            <p:strVal val="#ppt_x"/>
                                          </p:val>
                                        </p:tav>
                                      </p:tavLst>
                                    </p:anim>
                                    <p:anim calcmode="lin" valueType="num">
                                      <p:cBhvr additive="base">
                                        <p:cTn id="42" dur="500" fill="hold"/>
                                        <p:tgtEl>
                                          <p:spTgt spid="11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11"/>
                                        </p:tgtEl>
                                        <p:attrNameLst>
                                          <p:attrName>style.visibility</p:attrName>
                                        </p:attrNameLst>
                                      </p:cBhvr>
                                      <p:to>
                                        <p:strVal val="visible"/>
                                      </p:to>
                                    </p:set>
                                    <p:anim calcmode="lin" valueType="num">
                                      <p:cBhvr additive="base">
                                        <p:cTn id="45" dur="500" fill="hold"/>
                                        <p:tgtEl>
                                          <p:spTgt spid="111"/>
                                        </p:tgtEl>
                                        <p:attrNameLst>
                                          <p:attrName>ppt_x</p:attrName>
                                        </p:attrNameLst>
                                      </p:cBhvr>
                                      <p:tavLst>
                                        <p:tav tm="0">
                                          <p:val>
                                            <p:strVal val="#ppt_x"/>
                                          </p:val>
                                        </p:tav>
                                        <p:tav tm="100000">
                                          <p:val>
                                            <p:strVal val="#ppt_x"/>
                                          </p:val>
                                        </p:tav>
                                      </p:tavLst>
                                    </p:anim>
                                    <p:anim calcmode="lin" valueType="num">
                                      <p:cBhvr additive="base">
                                        <p:cTn id="46" dur="500" fill="hold"/>
                                        <p:tgtEl>
                                          <p:spTgt spid="111"/>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07"/>
                                        </p:tgtEl>
                                        <p:attrNameLst>
                                          <p:attrName>style.visibility</p:attrName>
                                        </p:attrNameLst>
                                      </p:cBhvr>
                                      <p:to>
                                        <p:strVal val="visible"/>
                                      </p:to>
                                    </p:set>
                                    <p:anim calcmode="lin" valueType="num">
                                      <p:cBhvr additive="base">
                                        <p:cTn id="49" dur="500" fill="hold"/>
                                        <p:tgtEl>
                                          <p:spTgt spid="107"/>
                                        </p:tgtEl>
                                        <p:attrNameLst>
                                          <p:attrName>ppt_x</p:attrName>
                                        </p:attrNameLst>
                                      </p:cBhvr>
                                      <p:tavLst>
                                        <p:tav tm="0">
                                          <p:val>
                                            <p:strVal val="#ppt_x"/>
                                          </p:val>
                                        </p:tav>
                                        <p:tav tm="100000">
                                          <p:val>
                                            <p:strVal val="#ppt_x"/>
                                          </p:val>
                                        </p:tav>
                                      </p:tavLst>
                                    </p:anim>
                                    <p:anim calcmode="lin" valueType="num">
                                      <p:cBhvr additive="base">
                                        <p:cTn id="50" dur="500" fill="hold"/>
                                        <p:tgtEl>
                                          <p:spTgt spid="107"/>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17"/>
                                        </p:tgtEl>
                                        <p:attrNameLst>
                                          <p:attrName>style.visibility</p:attrName>
                                        </p:attrNameLst>
                                      </p:cBhvr>
                                      <p:to>
                                        <p:strVal val="visible"/>
                                      </p:to>
                                    </p:set>
                                    <p:anim calcmode="lin" valueType="num">
                                      <p:cBhvr additive="base">
                                        <p:cTn id="53" dur="500" fill="hold"/>
                                        <p:tgtEl>
                                          <p:spTgt spid="117"/>
                                        </p:tgtEl>
                                        <p:attrNameLst>
                                          <p:attrName>ppt_x</p:attrName>
                                        </p:attrNameLst>
                                      </p:cBhvr>
                                      <p:tavLst>
                                        <p:tav tm="0">
                                          <p:val>
                                            <p:strVal val="#ppt_x"/>
                                          </p:val>
                                        </p:tav>
                                        <p:tav tm="100000">
                                          <p:val>
                                            <p:strVal val="#ppt_x"/>
                                          </p:val>
                                        </p:tav>
                                      </p:tavLst>
                                    </p:anim>
                                    <p:anim calcmode="lin" valueType="num">
                                      <p:cBhvr additive="base">
                                        <p:cTn id="54" dur="500" fill="hold"/>
                                        <p:tgtEl>
                                          <p:spTgt spid="117"/>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13"/>
                                        </p:tgtEl>
                                        <p:attrNameLst>
                                          <p:attrName>style.visibility</p:attrName>
                                        </p:attrNameLst>
                                      </p:cBhvr>
                                      <p:to>
                                        <p:strVal val="visible"/>
                                      </p:to>
                                    </p:set>
                                    <p:anim calcmode="lin" valueType="num">
                                      <p:cBhvr additive="base">
                                        <p:cTn id="57" dur="500" fill="hold"/>
                                        <p:tgtEl>
                                          <p:spTgt spid="113"/>
                                        </p:tgtEl>
                                        <p:attrNameLst>
                                          <p:attrName>ppt_x</p:attrName>
                                        </p:attrNameLst>
                                      </p:cBhvr>
                                      <p:tavLst>
                                        <p:tav tm="0">
                                          <p:val>
                                            <p:strVal val="#ppt_x"/>
                                          </p:val>
                                        </p:tav>
                                        <p:tav tm="100000">
                                          <p:val>
                                            <p:strVal val="#ppt_x"/>
                                          </p:val>
                                        </p:tav>
                                      </p:tavLst>
                                    </p:anim>
                                    <p:anim calcmode="lin" valueType="num">
                                      <p:cBhvr additive="base">
                                        <p:cTn id="58" dur="500" fill="hold"/>
                                        <p:tgtEl>
                                          <p:spTgt spid="113"/>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22"/>
                                        </p:tgtEl>
                                        <p:attrNameLst>
                                          <p:attrName>style.visibility</p:attrName>
                                        </p:attrNameLst>
                                      </p:cBhvr>
                                      <p:to>
                                        <p:strVal val="visible"/>
                                      </p:to>
                                    </p:set>
                                    <p:anim calcmode="lin" valueType="num">
                                      <p:cBhvr additive="base">
                                        <p:cTn id="61" dur="500" fill="hold"/>
                                        <p:tgtEl>
                                          <p:spTgt spid="122"/>
                                        </p:tgtEl>
                                        <p:attrNameLst>
                                          <p:attrName>ppt_x</p:attrName>
                                        </p:attrNameLst>
                                      </p:cBhvr>
                                      <p:tavLst>
                                        <p:tav tm="0">
                                          <p:val>
                                            <p:strVal val="#ppt_x"/>
                                          </p:val>
                                        </p:tav>
                                        <p:tav tm="100000">
                                          <p:val>
                                            <p:strVal val="#ppt_x"/>
                                          </p:val>
                                        </p:tav>
                                      </p:tavLst>
                                    </p:anim>
                                    <p:anim calcmode="lin" valueType="num">
                                      <p:cBhvr additive="base">
                                        <p:cTn id="62" dur="500" fill="hold"/>
                                        <p:tgtEl>
                                          <p:spTgt spid="122"/>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19"/>
                                        </p:tgtEl>
                                        <p:attrNameLst>
                                          <p:attrName>style.visibility</p:attrName>
                                        </p:attrNameLst>
                                      </p:cBhvr>
                                      <p:to>
                                        <p:strVal val="visible"/>
                                      </p:to>
                                    </p:set>
                                    <p:anim calcmode="lin" valueType="num">
                                      <p:cBhvr additive="base">
                                        <p:cTn id="65" dur="500" fill="hold"/>
                                        <p:tgtEl>
                                          <p:spTgt spid="119"/>
                                        </p:tgtEl>
                                        <p:attrNameLst>
                                          <p:attrName>ppt_x</p:attrName>
                                        </p:attrNameLst>
                                      </p:cBhvr>
                                      <p:tavLst>
                                        <p:tav tm="0">
                                          <p:val>
                                            <p:strVal val="#ppt_x"/>
                                          </p:val>
                                        </p:tav>
                                        <p:tav tm="100000">
                                          <p:val>
                                            <p:strVal val="#ppt_x"/>
                                          </p:val>
                                        </p:tav>
                                      </p:tavLst>
                                    </p:anim>
                                    <p:anim calcmode="lin" valueType="num">
                                      <p:cBhvr additive="base">
                                        <p:cTn id="66" dur="500" fill="hold"/>
                                        <p:tgtEl>
                                          <p:spTgt spid="11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20"/>
                                        </p:tgtEl>
                                        <p:attrNameLst>
                                          <p:attrName>style.visibility</p:attrName>
                                        </p:attrNameLst>
                                      </p:cBhvr>
                                      <p:to>
                                        <p:strVal val="visible"/>
                                      </p:to>
                                    </p:set>
                                    <p:anim calcmode="lin" valueType="num">
                                      <p:cBhvr additive="base">
                                        <p:cTn id="69" dur="500" fill="hold"/>
                                        <p:tgtEl>
                                          <p:spTgt spid="120"/>
                                        </p:tgtEl>
                                        <p:attrNameLst>
                                          <p:attrName>ppt_x</p:attrName>
                                        </p:attrNameLst>
                                      </p:cBhvr>
                                      <p:tavLst>
                                        <p:tav tm="0">
                                          <p:val>
                                            <p:strVal val="#ppt_x"/>
                                          </p:val>
                                        </p:tav>
                                        <p:tav tm="100000">
                                          <p:val>
                                            <p:strVal val="#ppt_x"/>
                                          </p:val>
                                        </p:tav>
                                      </p:tavLst>
                                    </p:anim>
                                    <p:anim calcmode="lin" valueType="num">
                                      <p:cBhvr additive="base">
                                        <p:cTn id="70" dur="500" fill="hold"/>
                                        <p:tgtEl>
                                          <p:spTgt spid="120"/>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16"/>
                                        </p:tgtEl>
                                        <p:attrNameLst>
                                          <p:attrName>style.visibility</p:attrName>
                                        </p:attrNameLst>
                                      </p:cBhvr>
                                      <p:to>
                                        <p:strVal val="visible"/>
                                      </p:to>
                                    </p:set>
                                    <p:anim calcmode="lin" valueType="num">
                                      <p:cBhvr additive="base">
                                        <p:cTn id="73" dur="500" fill="hold"/>
                                        <p:tgtEl>
                                          <p:spTgt spid="116"/>
                                        </p:tgtEl>
                                        <p:attrNameLst>
                                          <p:attrName>ppt_x</p:attrName>
                                        </p:attrNameLst>
                                      </p:cBhvr>
                                      <p:tavLst>
                                        <p:tav tm="0">
                                          <p:val>
                                            <p:strVal val="#ppt_x"/>
                                          </p:val>
                                        </p:tav>
                                        <p:tav tm="100000">
                                          <p:val>
                                            <p:strVal val="#ppt_x"/>
                                          </p:val>
                                        </p:tav>
                                      </p:tavLst>
                                    </p:anim>
                                    <p:anim calcmode="lin" valueType="num">
                                      <p:cBhvr additive="base">
                                        <p:cTn id="74" dur="500" fill="hold"/>
                                        <p:tgtEl>
                                          <p:spTgt spid="11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6" presetClass="entr" presetSubtype="16" fill="hold" grpId="0" nodeType="clickEffect">
                                  <p:stCondLst>
                                    <p:cond delay="0"/>
                                  </p:stCondLst>
                                  <p:childTnLst>
                                    <p:set>
                                      <p:cBhvr>
                                        <p:cTn id="78" dur="1" fill="hold">
                                          <p:stCondLst>
                                            <p:cond delay="0"/>
                                          </p:stCondLst>
                                        </p:cTn>
                                        <p:tgtEl>
                                          <p:spTgt spid="106">
                                            <p:txEl>
                                              <p:pRg st="0" end="0"/>
                                            </p:txEl>
                                          </p:spTgt>
                                        </p:tgtEl>
                                        <p:attrNameLst>
                                          <p:attrName>style.visibility</p:attrName>
                                        </p:attrNameLst>
                                      </p:cBhvr>
                                      <p:to>
                                        <p:strVal val="visible"/>
                                      </p:to>
                                    </p:set>
                                    <p:animEffect transition="in" filter="circle(in)">
                                      <p:cBhvr>
                                        <p:cTn id="79" dur="2000"/>
                                        <p:tgtEl>
                                          <p:spTgt spid="106">
                                            <p:txEl>
                                              <p:pRg st="0" end="0"/>
                                            </p:txEl>
                                          </p:spTgt>
                                        </p:tgtEl>
                                      </p:cBhvr>
                                    </p:animEffect>
                                  </p:childTnLst>
                                </p:cTn>
                              </p:par>
                              <p:par>
                                <p:cTn id="80" presetID="6" presetClass="entr" presetSubtype="16" fill="hold" grpId="0" nodeType="withEffect">
                                  <p:stCondLst>
                                    <p:cond delay="0"/>
                                  </p:stCondLst>
                                  <p:childTnLst>
                                    <p:set>
                                      <p:cBhvr>
                                        <p:cTn id="81" dur="1" fill="hold">
                                          <p:stCondLst>
                                            <p:cond delay="0"/>
                                          </p:stCondLst>
                                        </p:cTn>
                                        <p:tgtEl>
                                          <p:spTgt spid="103">
                                            <p:txEl>
                                              <p:pRg st="0" end="0"/>
                                            </p:txEl>
                                          </p:spTgt>
                                        </p:tgtEl>
                                        <p:attrNameLst>
                                          <p:attrName>style.visibility</p:attrName>
                                        </p:attrNameLst>
                                      </p:cBhvr>
                                      <p:to>
                                        <p:strVal val="visible"/>
                                      </p:to>
                                    </p:set>
                                    <p:animEffect transition="in" filter="circle(in)">
                                      <p:cBhvr>
                                        <p:cTn id="82" dur="2000"/>
                                        <p:tgtEl>
                                          <p:spTgt spid="103">
                                            <p:txEl>
                                              <p:pRg st="0" end="0"/>
                                            </p:txEl>
                                          </p:spTgt>
                                        </p:tgtEl>
                                      </p:cBhvr>
                                    </p:animEffect>
                                  </p:childTnLst>
                                </p:cTn>
                              </p:par>
                              <p:par>
                                <p:cTn id="83" presetID="6" presetClass="entr" presetSubtype="16" fill="hold" grpId="0" nodeType="withEffect">
                                  <p:stCondLst>
                                    <p:cond delay="0"/>
                                  </p:stCondLst>
                                  <p:childTnLst>
                                    <p:set>
                                      <p:cBhvr>
                                        <p:cTn id="84" dur="1" fill="hold">
                                          <p:stCondLst>
                                            <p:cond delay="0"/>
                                          </p:stCondLst>
                                        </p:cTn>
                                        <p:tgtEl>
                                          <p:spTgt spid="109">
                                            <p:txEl>
                                              <p:pRg st="0" end="0"/>
                                            </p:txEl>
                                          </p:spTgt>
                                        </p:tgtEl>
                                        <p:attrNameLst>
                                          <p:attrName>style.visibility</p:attrName>
                                        </p:attrNameLst>
                                      </p:cBhvr>
                                      <p:to>
                                        <p:strVal val="visible"/>
                                      </p:to>
                                    </p:set>
                                    <p:animEffect transition="in" filter="circle(in)">
                                      <p:cBhvr>
                                        <p:cTn id="85" dur="2000"/>
                                        <p:tgtEl>
                                          <p:spTgt spid="109">
                                            <p:txEl>
                                              <p:pRg st="0" end="0"/>
                                            </p:txEl>
                                          </p:spTgt>
                                        </p:tgtEl>
                                      </p:cBhvr>
                                    </p:animEffect>
                                  </p:childTnLst>
                                </p:cTn>
                              </p:par>
                              <p:par>
                                <p:cTn id="86" presetID="6" presetClass="entr" presetSubtype="16" fill="hold" grpId="0" nodeType="withEffect">
                                  <p:stCondLst>
                                    <p:cond delay="0"/>
                                  </p:stCondLst>
                                  <p:childTnLst>
                                    <p:set>
                                      <p:cBhvr>
                                        <p:cTn id="87" dur="1" fill="hold">
                                          <p:stCondLst>
                                            <p:cond delay="0"/>
                                          </p:stCondLst>
                                        </p:cTn>
                                        <p:tgtEl>
                                          <p:spTgt spid="112">
                                            <p:txEl>
                                              <p:pRg st="0" end="0"/>
                                            </p:txEl>
                                          </p:spTgt>
                                        </p:tgtEl>
                                        <p:attrNameLst>
                                          <p:attrName>style.visibility</p:attrName>
                                        </p:attrNameLst>
                                      </p:cBhvr>
                                      <p:to>
                                        <p:strVal val="visible"/>
                                      </p:to>
                                    </p:set>
                                    <p:animEffect transition="in" filter="circle(in)">
                                      <p:cBhvr>
                                        <p:cTn id="88" dur="2000"/>
                                        <p:tgtEl>
                                          <p:spTgt spid="112">
                                            <p:txEl>
                                              <p:pRg st="0" end="0"/>
                                            </p:txEl>
                                          </p:spTgt>
                                        </p:tgtEl>
                                      </p:cBhvr>
                                    </p:animEffect>
                                  </p:childTnLst>
                                </p:cTn>
                              </p:par>
                              <p:par>
                                <p:cTn id="89" presetID="6" presetClass="entr" presetSubtype="16" fill="hold" grpId="0" nodeType="withEffect">
                                  <p:stCondLst>
                                    <p:cond delay="0"/>
                                  </p:stCondLst>
                                  <p:childTnLst>
                                    <p:set>
                                      <p:cBhvr>
                                        <p:cTn id="90" dur="1" fill="hold">
                                          <p:stCondLst>
                                            <p:cond delay="0"/>
                                          </p:stCondLst>
                                        </p:cTn>
                                        <p:tgtEl>
                                          <p:spTgt spid="115">
                                            <p:txEl>
                                              <p:pRg st="0" end="0"/>
                                            </p:txEl>
                                          </p:spTgt>
                                        </p:tgtEl>
                                        <p:attrNameLst>
                                          <p:attrName>style.visibility</p:attrName>
                                        </p:attrNameLst>
                                      </p:cBhvr>
                                      <p:to>
                                        <p:strVal val="visible"/>
                                      </p:to>
                                    </p:set>
                                    <p:animEffect transition="in" filter="circle(in)">
                                      <p:cBhvr>
                                        <p:cTn id="91" dur="2000"/>
                                        <p:tgtEl>
                                          <p:spTgt spid="115">
                                            <p:txEl>
                                              <p:pRg st="0" end="0"/>
                                            </p:txEl>
                                          </p:spTgt>
                                        </p:tgtEl>
                                      </p:cBhvr>
                                    </p:animEffect>
                                  </p:childTnLst>
                                </p:cTn>
                              </p:par>
                              <p:par>
                                <p:cTn id="92" presetID="6" presetClass="entr" presetSubtype="16" fill="hold" grpId="0" nodeType="withEffect">
                                  <p:stCondLst>
                                    <p:cond delay="0"/>
                                  </p:stCondLst>
                                  <p:childTnLst>
                                    <p:set>
                                      <p:cBhvr>
                                        <p:cTn id="93" dur="1" fill="hold">
                                          <p:stCondLst>
                                            <p:cond delay="0"/>
                                          </p:stCondLst>
                                        </p:cTn>
                                        <p:tgtEl>
                                          <p:spTgt spid="118">
                                            <p:txEl>
                                              <p:pRg st="0" end="0"/>
                                            </p:txEl>
                                          </p:spTgt>
                                        </p:tgtEl>
                                        <p:attrNameLst>
                                          <p:attrName>style.visibility</p:attrName>
                                        </p:attrNameLst>
                                      </p:cBhvr>
                                      <p:to>
                                        <p:strVal val="visible"/>
                                      </p:to>
                                    </p:set>
                                    <p:animEffect transition="in" filter="circle(in)">
                                      <p:cBhvr>
                                        <p:cTn id="94" dur="2000"/>
                                        <p:tgtEl>
                                          <p:spTgt spid="118">
                                            <p:txEl>
                                              <p:pRg st="0" end="0"/>
                                            </p:txEl>
                                          </p:spTgt>
                                        </p:tgtEl>
                                      </p:cBhvr>
                                    </p:animEffect>
                                  </p:childTnLst>
                                </p:cTn>
                              </p:par>
                              <p:par>
                                <p:cTn id="95" presetID="6" presetClass="entr" presetSubtype="16" fill="hold" grpId="0" nodeType="withEffect">
                                  <p:stCondLst>
                                    <p:cond delay="0"/>
                                  </p:stCondLst>
                                  <p:childTnLst>
                                    <p:set>
                                      <p:cBhvr>
                                        <p:cTn id="96" dur="1" fill="hold">
                                          <p:stCondLst>
                                            <p:cond delay="0"/>
                                          </p:stCondLst>
                                        </p:cTn>
                                        <p:tgtEl>
                                          <p:spTgt spid="121">
                                            <p:txEl>
                                              <p:pRg st="0" end="0"/>
                                            </p:txEl>
                                          </p:spTgt>
                                        </p:tgtEl>
                                        <p:attrNameLst>
                                          <p:attrName>style.visibility</p:attrName>
                                        </p:attrNameLst>
                                      </p:cBhvr>
                                      <p:to>
                                        <p:strVal val="visible"/>
                                      </p:to>
                                    </p:set>
                                    <p:animEffect transition="in" filter="circle(in)">
                                      <p:cBhvr>
                                        <p:cTn id="97" dur="2000"/>
                                        <p:tgtEl>
                                          <p:spTgt spid="1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102" grpId="0" animBg="1"/>
      <p:bldP spid="103" grpId="0" build="allAtOnce"/>
      <p:bldP spid="104" grpId="0" animBg="1"/>
      <p:bldP spid="105" grpId="0" animBg="1"/>
      <p:bldP spid="106" grpId="0" build="allAtOnce"/>
      <p:bldP spid="107" grpId="0" animBg="1"/>
      <p:bldP spid="108" grpId="0" animBg="1"/>
      <p:bldP spid="109" grpId="0" build="allAtOnce"/>
      <p:bldP spid="110" grpId="0" animBg="1"/>
      <p:bldP spid="111" grpId="0" animBg="1"/>
      <p:bldP spid="112" grpId="0" build="allAtOnce"/>
      <p:bldP spid="113" grpId="0" animBg="1"/>
      <p:bldP spid="114" grpId="0" animBg="1"/>
      <p:bldP spid="115" grpId="0" build="allAtOnce"/>
      <p:bldP spid="116" grpId="0" animBg="1"/>
      <p:bldP spid="117" grpId="0" animBg="1"/>
      <p:bldP spid="118" grpId="0" build="allAtOnce"/>
      <p:bldP spid="119" grpId="0" animBg="1"/>
      <p:bldP spid="120" grpId="0" animBg="1"/>
      <p:bldP spid="121" grpId="0" build="allAtOnce"/>
      <p:bldP spid="1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7"/>
        <p:cNvGrpSpPr/>
        <p:nvPr/>
      </p:nvGrpSpPr>
      <p:grpSpPr>
        <a:xfrm>
          <a:off x="0" y="0"/>
          <a:ext cx="0" cy="0"/>
          <a:chOff x="0" y="0"/>
          <a:chExt cx="0" cy="0"/>
        </a:xfrm>
      </p:grpSpPr>
      <p:pic>
        <p:nvPicPr>
          <p:cNvPr id="98" name="Google Shape;98;p14" descr="image.png"/>
          <p:cNvPicPr preferRelativeResize="0"/>
          <p:nvPr/>
        </p:nvPicPr>
        <p:blipFill rotWithShape="1">
          <a:blip r:embed="rId3"/>
          <a:srcRect/>
          <a:stretch>
            <a:fillRect/>
          </a:stretch>
        </p:blipFill>
        <p:spPr>
          <a:xfrm>
            <a:off x="571500" y="1676400"/>
            <a:ext cx="5286375" cy="4610100"/>
          </a:xfrm>
          <a:prstGeom prst="rect">
            <a:avLst/>
          </a:prstGeom>
          <a:noFill/>
          <a:ln>
            <a:noFill/>
          </a:ln>
        </p:spPr>
      </p:pic>
      <p:pic>
        <p:nvPicPr>
          <p:cNvPr id="99" name="Google Shape;99;p14" descr="image.png"/>
          <p:cNvPicPr preferRelativeResize="0"/>
          <p:nvPr/>
        </p:nvPicPr>
        <p:blipFill rotWithShape="1">
          <a:blip r:embed="rId4"/>
          <a:srcRect/>
          <a:stretch>
            <a:fillRect/>
          </a:stretch>
        </p:blipFill>
        <p:spPr>
          <a:xfrm>
            <a:off x="6334125" y="1676400"/>
            <a:ext cx="5286375" cy="4610100"/>
          </a:xfrm>
          <a:prstGeom prst="rect">
            <a:avLst/>
          </a:prstGeom>
          <a:noFill/>
          <a:ln>
            <a:noFill/>
          </a:ln>
        </p:spPr>
      </p:pic>
      <p:sp>
        <p:nvSpPr>
          <p:cNvPr id="100" name="Google Shape;100;p14"/>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D9488"/>
                </a:solidFill>
                <a:latin typeface="Times New Roman" panose="02020603050405020304" pitchFamily="18" charset="0"/>
                <a:ea typeface="Poppins"/>
                <a:cs typeface="Times New Roman" panose="02020603050405020304" pitchFamily="18" charset="0"/>
                <a:sym typeface="Poppins"/>
              </a:rPr>
              <a:t>Abstract</a:t>
            </a:r>
            <a:endParaRPr b="1" dirty="0">
              <a:latin typeface="Times New Roman" panose="02020603050405020304" pitchFamily="18" charset="0"/>
              <a:cs typeface="Times New Roman" panose="02020603050405020304" pitchFamily="18" charset="0"/>
            </a:endParaRPr>
          </a:p>
        </p:txBody>
      </p:sp>
      <p:sp>
        <p:nvSpPr>
          <p:cNvPr id="101" name="Google Shape;101;p14"/>
          <p:cNvSpPr/>
          <p:nvPr/>
        </p:nvSpPr>
        <p:spPr>
          <a:xfrm>
            <a:off x="571500" y="1266825"/>
            <a:ext cx="11049000" cy="28575"/>
          </a:xfrm>
          <a:prstGeom prst="rect">
            <a:avLst/>
          </a:prstGeom>
          <a:solidFill>
            <a:srgbClr val="CCFB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2" name="Google Shape;102;p14"/>
          <p:cNvSpPr txBox="1"/>
          <p:nvPr/>
        </p:nvSpPr>
        <p:spPr>
          <a:xfrm>
            <a:off x="962025" y="3023294"/>
            <a:ext cx="4730591" cy="276999"/>
          </a:xfrm>
          <a:prstGeom prst="rect">
            <a:avLst/>
          </a:prstGeom>
          <a:noFill/>
          <a:ln>
            <a:noFill/>
          </a:ln>
        </p:spPr>
        <p:txBody>
          <a:bodyPr spcFirstLastPara="1" wrap="square" lIns="228600" tIns="0" rIns="0" bIns="0" anchor="t" anchorCtr="0">
            <a:spAutoFit/>
          </a:bodyPr>
          <a:lstStyle/>
          <a:p>
            <a:pPr marL="0" marR="0" lvl="0" indent="0" algn="l" rtl="0">
              <a:spcBef>
                <a:spcPts val="0"/>
              </a:spcBef>
              <a:spcAft>
                <a:spcPts val="0"/>
              </a:spcAft>
              <a:buNone/>
            </a:pPr>
            <a:r>
              <a:rPr lang="en-US" sz="1800" b="1" i="0" u="none" strike="noStrike" cap="none" dirty="0">
                <a:solidFill>
                  <a:srgbClr val="0F766E"/>
                </a:solidFill>
                <a:latin typeface="Times New Roman" panose="02020603050405020304" pitchFamily="18" charset="0"/>
                <a:ea typeface="Poppins"/>
                <a:cs typeface="Times New Roman" panose="02020603050405020304" pitchFamily="18" charset="0"/>
                <a:sym typeface="Poppins"/>
              </a:rPr>
              <a:t>Context &amp; Focus</a:t>
            </a:r>
            <a:endParaRPr b="1" dirty="0">
              <a:latin typeface="Times New Roman" panose="02020603050405020304" pitchFamily="18" charset="0"/>
              <a:cs typeface="Times New Roman" panose="02020603050405020304" pitchFamily="18" charset="0"/>
            </a:endParaRPr>
          </a:p>
        </p:txBody>
      </p:sp>
      <p:sp>
        <p:nvSpPr>
          <p:cNvPr id="103" name="Google Shape;103;p14"/>
          <p:cNvSpPr txBox="1"/>
          <p:nvPr/>
        </p:nvSpPr>
        <p:spPr>
          <a:xfrm>
            <a:off x="962025" y="3670994"/>
            <a:ext cx="4505325" cy="1329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Cyberbullying is a growing concern in university environments. This research examined the AIUB campus specifically, utilizing a quantitative survey of 23 students to identify the scale of the problem and potential solutions.</a:t>
            </a:r>
            <a:endParaRPr b="1" dirty="0">
              <a:latin typeface="Times New Roman" panose="02020603050405020304" pitchFamily="18" charset="0"/>
              <a:cs typeface="Times New Roman" panose="02020603050405020304" pitchFamily="18" charset="0"/>
            </a:endParaRPr>
          </a:p>
        </p:txBody>
      </p:sp>
      <p:sp>
        <p:nvSpPr>
          <p:cNvPr id="104" name="Google Shape;104;p14"/>
          <p:cNvSpPr txBox="1"/>
          <p:nvPr/>
        </p:nvSpPr>
        <p:spPr>
          <a:xfrm>
            <a:off x="6724650" y="3023294"/>
            <a:ext cx="4730591" cy="276999"/>
          </a:xfrm>
          <a:prstGeom prst="rect">
            <a:avLst/>
          </a:prstGeom>
          <a:noFill/>
          <a:ln>
            <a:noFill/>
          </a:ln>
        </p:spPr>
        <p:txBody>
          <a:bodyPr spcFirstLastPara="1" wrap="square" lIns="171450" tIns="0" rIns="0" bIns="0" anchor="t" anchorCtr="0">
            <a:spAutoFit/>
          </a:bodyPr>
          <a:lstStyle/>
          <a:p>
            <a:pPr marL="0" marR="0" lvl="0" indent="0" algn="l" rtl="0">
              <a:spcBef>
                <a:spcPts val="0"/>
              </a:spcBef>
              <a:spcAft>
                <a:spcPts val="0"/>
              </a:spcAft>
              <a:buNone/>
            </a:pPr>
            <a:r>
              <a:rPr lang="en-US" sz="1800" b="1" i="0" u="none" strike="noStrike" cap="none">
                <a:solidFill>
                  <a:srgbClr val="0F766E"/>
                </a:solidFill>
                <a:latin typeface="Times New Roman" panose="02020603050405020304" pitchFamily="18" charset="0"/>
                <a:ea typeface="Poppins"/>
                <a:cs typeface="Times New Roman" panose="02020603050405020304" pitchFamily="18" charset="0"/>
                <a:sym typeface="Poppins"/>
              </a:rPr>
              <a:t>Findings &amp; Outcome</a:t>
            </a:r>
            <a:endParaRPr b="1">
              <a:latin typeface="Times New Roman" panose="02020603050405020304" pitchFamily="18" charset="0"/>
              <a:cs typeface="Times New Roman" panose="02020603050405020304" pitchFamily="18" charset="0"/>
            </a:endParaRPr>
          </a:p>
        </p:txBody>
      </p:sp>
      <p:sp>
        <p:nvSpPr>
          <p:cNvPr id="105" name="Google Shape;105;p14"/>
          <p:cNvSpPr txBox="1"/>
          <p:nvPr/>
        </p:nvSpPr>
        <p:spPr>
          <a:xfrm>
            <a:off x="6724650" y="3670994"/>
            <a:ext cx="4505325" cy="1329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Online harassment was identified as the most prevalent form. However, there is strong student support for AI-based mobile reporting. The proposed outcome is an app-based monitoring system paired with awareness programs.</a:t>
            </a:r>
            <a:endParaRPr b="1" dirty="0">
              <a:latin typeface="Times New Roman" panose="02020603050405020304" pitchFamily="18" charset="0"/>
              <a:cs typeface="Times New Roman" panose="02020603050405020304" pitchFamily="18" charset="0"/>
            </a:endParaRPr>
          </a:p>
        </p:txBody>
      </p:sp>
      <p:pic>
        <p:nvPicPr>
          <p:cNvPr id="106" name="Google Shape;106;p14" descr="image.png"/>
          <p:cNvPicPr preferRelativeResize="0"/>
          <p:nvPr/>
        </p:nvPicPr>
        <p:blipFill rotWithShape="1">
          <a:blip r:embed="rId5"/>
          <a:srcRect/>
          <a:stretch>
            <a:fillRect/>
          </a:stretch>
        </p:blipFill>
        <p:spPr>
          <a:xfrm>
            <a:off x="847725" y="3023294"/>
            <a:ext cx="228600" cy="228600"/>
          </a:xfrm>
          <a:prstGeom prst="rect">
            <a:avLst/>
          </a:prstGeom>
          <a:noFill/>
          <a:ln>
            <a:noFill/>
          </a:ln>
        </p:spPr>
      </p:pic>
      <p:pic>
        <p:nvPicPr>
          <p:cNvPr id="107" name="Google Shape;107;p14" descr="image.png"/>
          <p:cNvPicPr preferRelativeResize="0"/>
          <p:nvPr/>
        </p:nvPicPr>
        <p:blipFill rotWithShape="1">
          <a:blip r:embed="rId6"/>
          <a:srcRect/>
          <a:stretch>
            <a:fillRect/>
          </a:stretch>
        </p:blipFill>
        <p:spPr>
          <a:xfrm>
            <a:off x="6638925" y="3023294"/>
            <a:ext cx="171450" cy="228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8"/>
                                        </p:tgtEl>
                                        <p:attrNameLst>
                                          <p:attrName>style.visibility</p:attrName>
                                        </p:attrNameLst>
                                      </p:cBhvr>
                                      <p:to>
                                        <p:strVal val="visible"/>
                                      </p:to>
                                    </p:set>
                                    <p:anim calcmode="lin" valueType="num">
                                      <p:cBhvr additive="base">
                                        <p:cTn id="11" dur="500" fill="hold"/>
                                        <p:tgtEl>
                                          <p:spTgt spid="98"/>
                                        </p:tgtEl>
                                        <p:attrNameLst>
                                          <p:attrName>ppt_x</p:attrName>
                                        </p:attrNameLst>
                                      </p:cBhvr>
                                      <p:tavLst>
                                        <p:tav tm="0">
                                          <p:val>
                                            <p:strVal val="#ppt_x"/>
                                          </p:val>
                                        </p:tav>
                                        <p:tav tm="100000">
                                          <p:val>
                                            <p:strVal val="#ppt_x"/>
                                          </p:val>
                                        </p:tav>
                                      </p:tavLst>
                                    </p:anim>
                                    <p:anim calcmode="lin" valueType="num">
                                      <p:cBhvr additive="base">
                                        <p:cTn id="12" dur="500" fill="hold"/>
                                        <p:tgtEl>
                                          <p:spTgt spid="9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ppt_x"/>
                                          </p:val>
                                        </p:tav>
                                        <p:tav tm="100000">
                                          <p:val>
                                            <p:strVal val="#ppt_x"/>
                                          </p:val>
                                        </p:tav>
                                      </p:tavLst>
                                    </p:anim>
                                    <p:anim calcmode="lin" valueType="num">
                                      <p:cBhvr additive="base">
                                        <p:cTn id="16" dur="500" fill="hold"/>
                                        <p:tgtEl>
                                          <p:spTgt spid="9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1000"/>
                                        <p:tgtEl>
                                          <p:spTgt spid="102"/>
                                        </p:tgtEl>
                                      </p:cBhvr>
                                    </p:animEffect>
                                    <p:anim calcmode="lin" valueType="num">
                                      <p:cBhvr>
                                        <p:cTn id="22" dur="1000" fill="hold"/>
                                        <p:tgtEl>
                                          <p:spTgt spid="102"/>
                                        </p:tgtEl>
                                        <p:attrNameLst>
                                          <p:attrName>ppt_x</p:attrName>
                                        </p:attrNameLst>
                                      </p:cBhvr>
                                      <p:tavLst>
                                        <p:tav tm="0">
                                          <p:val>
                                            <p:strVal val="#ppt_x"/>
                                          </p:val>
                                        </p:tav>
                                        <p:tav tm="100000">
                                          <p:val>
                                            <p:strVal val="#ppt_x"/>
                                          </p:val>
                                        </p:tav>
                                      </p:tavLst>
                                    </p:anim>
                                    <p:anim calcmode="lin" valueType="num">
                                      <p:cBhvr>
                                        <p:cTn id="23" dur="1000" fill="hold"/>
                                        <p:tgtEl>
                                          <p:spTgt spid="102"/>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06"/>
                                        </p:tgtEl>
                                        <p:attrNameLst>
                                          <p:attrName>style.visibility</p:attrName>
                                        </p:attrNameLst>
                                      </p:cBhvr>
                                      <p:to>
                                        <p:strVal val="visible"/>
                                      </p:to>
                                    </p:set>
                                    <p:animEffect transition="in" filter="fade">
                                      <p:cBhvr>
                                        <p:cTn id="26" dur="1000"/>
                                        <p:tgtEl>
                                          <p:spTgt spid="106"/>
                                        </p:tgtEl>
                                      </p:cBhvr>
                                    </p:animEffect>
                                    <p:anim calcmode="lin" valueType="num">
                                      <p:cBhvr>
                                        <p:cTn id="27" dur="1000" fill="hold"/>
                                        <p:tgtEl>
                                          <p:spTgt spid="106"/>
                                        </p:tgtEl>
                                        <p:attrNameLst>
                                          <p:attrName>ppt_x</p:attrName>
                                        </p:attrNameLst>
                                      </p:cBhvr>
                                      <p:tavLst>
                                        <p:tav tm="0">
                                          <p:val>
                                            <p:strVal val="#ppt_x"/>
                                          </p:val>
                                        </p:tav>
                                        <p:tav tm="100000">
                                          <p:val>
                                            <p:strVal val="#ppt_x"/>
                                          </p:val>
                                        </p:tav>
                                      </p:tavLst>
                                    </p:anim>
                                    <p:anim calcmode="lin" valueType="num">
                                      <p:cBhvr>
                                        <p:cTn id="28" dur="1000" fill="hold"/>
                                        <p:tgtEl>
                                          <p:spTgt spid="106"/>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07"/>
                                        </p:tgtEl>
                                        <p:attrNameLst>
                                          <p:attrName>style.visibility</p:attrName>
                                        </p:attrNameLst>
                                      </p:cBhvr>
                                      <p:to>
                                        <p:strVal val="visible"/>
                                      </p:to>
                                    </p:set>
                                    <p:animEffect transition="in" filter="fade">
                                      <p:cBhvr>
                                        <p:cTn id="31" dur="1000"/>
                                        <p:tgtEl>
                                          <p:spTgt spid="107"/>
                                        </p:tgtEl>
                                      </p:cBhvr>
                                    </p:animEffect>
                                    <p:anim calcmode="lin" valueType="num">
                                      <p:cBhvr>
                                        <p:cTn id="32" dur="1000" fill="hold"/>
                                        <p:tgtEl>
                                          <p:spTgt spid="107"/>
                                        </p:tgtEl>
                                        <p:attrNameLst>
                                          <p:attrName>ppt_x</p:attrName>
                                        </p:attrNameLst>
                                      </p:cBhvr>
                                      <p:tavLst>
                                        <p:tav tm="0">
                                          <p:val>
                                            <p:strVal val="#ppt_x"/>
                                          </p:val>
                                        </p:tav>
                                        <p:tav tm="100000">
                                          <p:val>
                                            <p:strVal val="#ppt_x"/>
                                          </p:val>
                                        </p:tav>
                                      </p:tavLst>
                                    </p:anim>
                                    <p:anim calcmode="lin" valueType="num">
                                      <p:cBhvr>
                                        <p:cTn id="33" dur="1000" fill="hold"/>
                                        <p:tgtEl>
                                          <p:spTgt spid="10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4"/>
                                        </p:tgtEl>
                                        <p:attrNameLst>
                                          <p:attrName>style.visibility</p:attrName>
                                        </p:attrNameLst>
                                      </p:cBhvr>
                                      <p:to>
                                        <p:strVal val="visible"/>
                                      </p:to>
                                    </p:set>
                                    <p:animEffect transition="in" filter="fade">
                                      <p:cBhvr>
                                        <p:cTn id="36" dur="1000"/>
                                        <p:tgtEl>
                                          <p:spTgt spid="104"/>
                                        </p:tgtEl>
                                      </p:cBhvr>
                                    </p:animEffect>
                                    <p:anim calcmode="lin" valueType="num">
                                      <p:cBhvr>
                                        <p:cTn id="37" dur="1000" fill="hold"/>
                                        <p:tgtEl>
                                          <p:spTgt spid="104"/>
                                        </p:tgtEl>
                                        <p:attrNameLst>
                                          <p:attrName>ppt_x</p:attrName>
                                        </p:attrNameLst>
                                      </p:cBhvr>
                                      <p:tavLst>
                                        <p:tav tm="0">
                                          <p:val>
                                            <p:strVal val="#ppt_x"/>
                                          </p:val>
                                        </p:tav>
                                        <p:tav tm="100000">
                                          <p:val>
                                            <p:strVal val="#ppt_x"/>
                                          </p:val>
                                        </p:tav>
                                      </p:tavLst>
                                    </p:anim>
                                    <p:anim calcmode="lin" valueType="num">
                                      <p:cBhvr>
                                        <p:cTn id="38"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5"/>
                                        </p:tgtEl>
                                        <p:attrNameLst>
                                          <p:attrName>style.visibility</p:attrName>
                                        </p:attrNameLst>
                                      </p:cBhvr>
                                      <p:to>
                                        <p:strVal val="visible"/>
                                      </p:to>
                                    </p:set>
                                    <p:anim calcmode="lin" valueType="num">
                                      <p:cBhvr additive="base">
                                        <p:cTn id="43" dur="500" fill="hold"/>
                                        <p:tgtEl>
                                          <p:spTgt spid="105"/>
                                        </p:tgtEl>
                                        <p:attrNameLst>
                                          <p:attrName>ppt_x</p:attrName>
                                        </p:attrNameLst>
                                      </p:cBhvr>
                                      <p:tavLst>
                                        <p:tav tm="0">
                                          <p:val>
                                            <p:strVal val="#ppt_x"/>
                                          </p:val>
                                        </p:tav>
                                        <p:tav tm="100000">
                                          <p:val>
                                            <p:strVal val="#ppt_x"/>
                                          </p:val>
                                        </p:tav>
                                      </p:tavLst>
                                    </p:anim>
                                    <p:anim calcmode="lin" valueType="num">
                                      <p:cBhvr additive="base">
                                        <p:cTn id="44" dur="500" fill="hold"/>
                                        <p:tgtEl>
                                          <p:spTgt spid="10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03"/>
                                        </p:tgtEl>
                                        <p:attrNameLst>
                                          <p:attrName>style.visibility</p:attrName>
                                        </p:attrNameLst>
                                      </p:cBhvr>
                                      <p:to>
                                        <p:strVal val="visible"/>
                                      </p:to>
                                    </p:set>
                                    <p:anim calcmode="lin" valueType="num">
                                      <p:cBhvr additive="base">
                                        <p:cTn id="47" dur="500" fill="hold"/>
                                        <p:tgtEl>
                                          <p:spTgt spid="103"/>
                                        </p:tgtEl>
                                        <p:attrNameLst>
                                          <p:attrName>ppt_x</p:attrName>
                                        </p:attrNameLst>
                                      </p:cBhvr>
                                      <p:tavLst>
                                        <p:tav tm="0">
                                          <p:val>
                                            <p:strVal val="#ppt_x"/>
                                          </p:val>
                                        </p:tav>
                                        <p:tav tm="100000">
                                          <p:val>
                                            <p:strVal val="#ppt_x"/>
                                          </p:val>
                                        </p:tav>
                                      </p:tavLst>
                                    </p:anim>
                                    <p:anim calcmode="lin" valueType="num">
                                      <p:cBhvr additive="base">
                                        <p:cTn id="48"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2" grpId="0"/>
      <p:bldP spid="103" grpId="0"/>
      <p:bldP spid="104" grpId="0"/>
      <p:bldP spid="10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
        <p:cNvGrpSpPr/>
        <p:nvPr/>
      </p:nvGrpSpPr>
      <p:grpSpPr>
        <a:xfrm>
          <a:off x="0" y="0"/>
          <a:ext cx="0" cy="0"/>
          <a:chOff x="0" y="0"/>
          <a:chExt cx="0" cy="0"/>
        </a:xfrm>
      </p:grpSpPr>
      <p:pic>
        <p:nvPicPr>
          <p:cNvPr id="112" name="Google Shape;112;p15" descr="image.png"/>
          <p:cNvPicPr preferRelativeResize="0"/>
          <p:nvPr/>
        </p:nvPicPr>
        <p:blipFill rotWithShape="1">
          <a:blip r:embed="rId3"/>
          <a:srcRect/>
          <a:stretch>
            <a:fillRect/>
          </a:stretch>
        </p:blipFill>
        <p:spPr>
          <a:xfrm>
            <a:off x="6334125" y="2076450"/>
            <a:ext cx="5286375" cy="3810000"/>
          </a:xfrm>
          <a:prstGeom prst="rect">
            <a:avLst/>
          </a:prstGeom>
          <a:noFill/>
          <a:ln>
            <a:noFill/>
          </a:ln>
        </p:spPr>
      </p:pic>
      <p:sp>
        <p:nvSpPr>
          <p:cNvPr id="113" name="Google Shape;113;p15"/>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D9488"/>
                </a:solidFill>
                <a:latin typeface="Times New Roman" panose="02020603050405020304" pitchFamily="18" charset="0"/>
                <a:ea typeface="Poppins"/>
                <a:cs typeface="Times New Roman" panose="02020603050405020304" pitchFamily="18" charset="0"/>
                <a:sym typeface="Poppins"/>
              </a:rPr>
              <a:t>Introduction</a:t>
            </a:r>
            <a:endParaRPr dirty="0">
              <a:latin typeface="Times New Roman" panose="02020603050405020304" pitchFamily="18" charset="0"/>
              <a:cs typeface="Times New Roman" panose="02020603050405020304" pitchFamily="18" charset="0"/>
            </a:endParaRPr>
          </a:p>
        </p:txBody>
      </p:sp>
      <p:sp>
        <p:nvSpPr>
          <p:cNvPr id="114" name="Google Shape;114;p15"/>
          <p:cNvSpPr/>
          <p:nvPr/>
        </p:nvSpPr>
        <p:spPr>
          <a:xfrm>
            <a:off x="571500" y="1266825"/>
            <a:ext cx="11049000" cy="28575"/>
          </a:xfrm>
          <a:prstGeom prst="rect">
            <a:avLst/>
          </a:prstGeom>
          <a:solidFill>
            <a:srgbClr val="CCFB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pic>
        <p:nvPicPr>
          <p:cNvPr id="115" name="Google Shape;115;p15"/>
          <p:cNvPicPr preferRelativeResize="0"/>
          <p:nvPr/>
        </p:nvPicPr>
        <p:blipFill rotWithShape="1">
          <a:blip r:embed="rId4"/>
          <a:srcRect/>
          <a:stretch>
            <a:fillRect/>
          </a:stretch>
        </p:blipFill>
        <p:spPr>
          <a:xfrm>
            <a:off x="6492240" y="1628775"/>
            <a:ext cx="5128260" cy="4657725"/>
          </a:xfrm>
          <a:prstGeom prst="rect">
            <a:avLst/>
          </a:prstGeom>
          <a:noFill/>
          <a:ln>
            <a:noFill/>
          </a:ln>
        </p:spPr>
      </p:pic>
      <p:sp>
        <p:nvSpPr>
          <p:cNvPr id="116" name="Google Shape;116;p15"/>
          <p:cNvSpPr txBox="1"/>
          <p:nvPr/>
        </p:nvSpPr>
        <p:spPr>
          <a:xfrm>
            <a:off x="857250" y="2669976"/>
            <a:ext cx="5000625"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Times New Roman" panose="02020603050405020304" pitchFamily="18" charset="0"/>
                <a:ea typeface="Lato"/>
                <a:cs typeface="Times New Roman" panose="02020603050405020304" pitchFamily="18" charset="0"/>
                <a:sym typeface="Lato"/>
              </a:rPr>
              <a:t>Background:</a:t>
            </a:r>
            <a:r>
              <a:rPr lang="en-US" sz="13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 Widespread social media use for academic interaction increases exposure to harmful behavior.</a:t>
            </a:r>
            <a:endParaRPr>
              <a:latin typeface="Times New Roman" panose="02020603050405020304" pitchFamily="18" charset="0"/>
              <a:cs typeface="Times New Roman" panose="02020603050405020304" pitchFamily="18" charset="0"/>
            </a:endParaRPr>
          </a:p>
        </p:txBody>
      </p:sp>
      <p:sp>
        <p:nvSpPr>
          <p:cNvPr id="117" name="Google Shape;117;p15"/>
          <p:cNvSpPr txBox="1"/>
          <p:nvPr/>
        </p:nvSpPr>
        <p:spPr>
          <a:xfrm>
            <a:off x="857250" y="3361432"/>
            <a:ext cx="5000625"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Times New Roman" panose="02020603050405020304" pitchFamily="18" charset="0"/>
                <a:ea typeface="Lato"/>
                <a:cs typeface="Times New Roman" panose="02020603050405020304" pitchFamily="18" charset="0"/>
                <a:sym typeface="Lato"/>
              </a:rPr>
              <a:t>The Problem:</a:t>
            </a:r>
            <a:r>
              <a:rPr lang="en-US" sz="13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 Cyberbullying negatively impacts mental well-being, confidence, and academic communication.</a:t>
            </a:r>
            <a:endParaRPr>
              <a:latin typeface="Times New Roman" panose="02020603050405020304" pitchFamily="18" charset="0"/>
              <a:cs typeface="Times New Roman" panose="02020603050405020304" pitchFamily="18" charset="0"/>
            </a:endParaRPr>
          </a:p>
        </p:txBody>
      </p:sp>
      <p:sp>
        <p:nvSpPr>
          <p:cNvPr id="118" name="Google Shape;118;p15"/>
          <p:cNvSpPr txBox="1"/>
          <p:nvPr/>
        </p:nvSpPr>
        <p:spPr>
          <a:xfrm>
            <a:off x="857250" y="4052887"/>
            <a:ext cx="5000625"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The Gap:</a:t>
            </a:r>
            <a:r>
              <a:rPr lang="en-US" sz="1350"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 A lack of effective, confidential reporting systems discourages victims from coming forward.</a:t>
            </a:r>
            <a:endParaRPr dirty="0">
              <a:latin typeface="Times New Roman" panose="02020603050405020304" pitchFamily="18" charset="0"/>
              <a:cs typeface="Times New Roman" panose="02020603050405020304" pitchFamily="18" charset="0"/>
            </a:endParaRPr>
          </a:p>
        </p:txBody>
      </p:sp>
      <p:sp>
        <p:nvSpPr>
          <p:cNvPr id="119" name="Google Shape;119;p15"/>
          <p:cNvSpPr txBox="1"/>
          <p:nvPr/>
        </p:nvSpPr>
        <p:spPr>
          <a:xfrm>
            <a:off x="857250" y="4744342"/>
            <a:ext cx="5000625"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Times New Roman" panose="02020603050405020304" pitchFamily="18" charset="0"/>
                <a:ea typeface="Lato"/>
                <a:cs typeface="Times New Roman" panose="02020603050405020304" pitchFamily="18" charset="0"/>
                <a:sym typeface="Lato"/>
              </a:rPr>
              <a:t>Hypothesis:</a:t>
            </a:r>
            <a:r>
              <a:rPr lang="en-US" sz="13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 Students will favor technology-based reporting tools (Mobile Apps) as a primary solution.</a:t>
            </a:r>
            <a:endParaRPr>
              <a:latin typeface="Times New Roman" panose="02020603050405020304" pitchFamily="18" charset="0"/>
              <a:cs typeface="Times New Roman" panose="02020603050405020304" pitchFamily="18" charset="0"/>
            </a:endParaRPr>
          </a:p>
        </p:txBody>
      </p:sp>
      <p:pic>
        <p:nvPicPr>
          <p:cNvPr id="120" name="Google Shape;120;p15" descr="image.png"/>
          <p:cNvPicPr preferRelativeResize="0"/>
          <p:nvPr/>
        </p:nvPicPr>
        <p:blipFill rotWithShape="1">
          <a:blip r:embed="rId5"/>
          <a:srcRect/>
          <a:stretch>
            <a:fillRect/>
          </a:stretch>
        </p:blipFill>
        <p:spPr>
          <a:xfrm>
            <a:off x="571500" y="2753170"/>
            <a:ext cx="171450" cy="180975"/>
          </a:xfrm>
          <a:prstGeom prst="rect">
            <a:avLst/>
          </a:prstGeom>
          <a:noFill/>
          <a:ln>
            <a:noFill/>
          </a:ln>
        </p:spPr>
      </p:pic>
      <p:pic>
        <p:nvPicPr>
          <p:cNvPr id="121" name="Google Shape;121;p15" descr="image.png"/>
          <p:cNvPicPr preferRelativeResize="0"/>
          <p:nvPr/>
        </p:nvPicPr>
        <p:blipFill rotWithShape="1">
          <a:blip r:embed="rId5"/>
          <a:srcRect/>
          <a:stretch>
            <a:fillRect/>
          </a:stretch>
        </p:blipFill>
        <p:spPr>
          <a:xfrm>
            <a:off x="571500" y="3429000"/>
            <a:ext cx="171450" cy="180975"/>
          </a:xfrm>
          <a:prstGeom prst="rect">
            <a:avLst/>
          </a:prstGeom>
          <a:noFill/>
          <a:ln>
            <a:noFill/>
          </a:ln>
        </p:spPr>
      </p:pic>
      <p:pic>
        <p:nvPicPr>
          <p:cNvPr id="122" name="Google Shape;122;p15" descr="image.png"/>
          <p:cNvPicPr preferRelativeResize="0"/>
          <p:nvPr/>
        </p:nvPicPr>
        <p:blipFill rotWithShape="1">
          <a:blip r:embed="rId5"/>
          <a:srcRect/>
          <a:stretch>
            <a:fillRect/>
          </a:stretch>
        </p:blipFill>
        <p:spPr>
          <a:xfrm>
            <a:off x="571500" y="4146202"/>
            <a:ext cx="171450" cy="180975"/>
          </a:xfrm>
          <a:prstGeom prst="rect">
            <a:avLst/>
          </a:prstGeom>
          <a:noFill/>
          <a:ln>
            <a:noFill/>
          </a:ln>
        </p:spPr>
      </p:pic>
      <p:pic>
        <p:nvPicPr>
          <p:cNvPr id="123" name="Google Shape;123;p15" descr="image.png"/>
          <p:cNvPicPr preferRelativeResize="0"/>
          <p:nvPr/>
        </p:nvPicPr>
        <p:blipFill rotWithShape="1">
          <a:blip r:embed="rId5"/>
          <a:srcRect/>
          <a:stretch>
            <a:fillRect/>
          </a:stretch>
        </p:blipFill>
        <p:spPr>
          <a:xfrm>
            <a:off x="571500" y="4807508"/>
            <a:ext cx="171450" cy="1809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1000"/>
                                        <p:tgtEl>
                                          <p:spTgt spid="113"/>
                                        </p:tgtEl>
                                      </p:cBhvr>
                                    </p:animEffect>
                                    <p:anim calcmode="lin" valueType="num">
                                      <p:cBhvr>
                                        <p:cTn id="8" dur="1000" fill="hold"/>
                                        <p:tgtEl>
                                          <p:spTgt spid="113"/>
                                        </p:tgtEl>
                                        <p:attrNameLst>
                                          <p:attrName>ppt_x</p:attrName>
                                        </p:attrNameLst>
                                      </p:cBhvr>
                                      <p:tavLst>
                                        <p:tav tm="0">
                                          <p:val>
                                            <p:strVal val="#ppt_x"/>
                                          </p:val>
                                        </p:tav>
                                        <p:tav tm="100000">
                                          <p:val>
                                            <p:strVal val="#ppt_x"/>
                                          </p:val>
                                        </p:tav>
                                      </p:tavLst>
                                    </p:anim>
                                    <p:anim calcmode="lin" valueType="num">
                                      <p:cBhvr>
                                        <p:cTn id="9" dur="1000" fill="hold"/>
                                        <p:tgtEl>
                                          <p:spTgt spid="11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fade">
                                      <p:cBhvr>
                                        <p:cTn id="12" dur="1000"/>
                                        <p:tgtEl>
                                          <p:spTgt spid="123"/>
                                        </p:tgtEl>
                                      </p:cBhvr>
                                    </p:animEffect>
                                    <p:anim calcmode="lin" valueType="num">
                                      <p:cBhvr>
                                        <p:cTn id="13" dur="1000" fill="hold"/>
                                        <p:tgtEl>
                                          <p:spTgt spid="123"/>
                                        </p:tgtEl>
                                        <p:attrNameLst>
                                          <p:attrName>ppt_x</p:attrName>
                                        </p:attrNameLst>
                                      </p:cBhvr>
                                      <p:tavLst>
                                        <p:tav tm="0">
                                          <p:val>
                                            <p:strVal val="#ppt_x"/>
                                          </p:val>
                                        </p:tav>
                                        <p:tav tm="100000">
                                          <p:val>
                                            <p:strVal val="#ppt_x"/>
                                          </p:val>
                                        </p:tav>
                                      </p:tavLst>
                                    </p:anim>
                                    <p:anim calcmode="lin" valueType="num">
                                      <p:cBhvr>
                                        <p:cTn id="14" dur="1000" fill="hold"/>
                                        <p:tgtEl>
                                          <p:spTgt spid="12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2"/>
                                        </p:tgtEl>
                                        <p:attrNameLst>
                                          <p:attrName>style.visibility</p:attrName>
                                        </p:attrNameLst>
                                      </p:cBhvr>
                                      <p:to>
                                        <p:strVal val="visible"/>
                                      </p:to>
                                    </p:set>
                                    <p:animEffect transition="in" filter="fade">
                                      <p:cBhvr>
                                        <p:cTn id="17" dur="1000"/>
                                        <p:tgtEl>
                                          <p:spTgt spid="122"/>
                                        </p:tgtEl>
                                      </p:cBhvr>
                                    </p:animEffect>
                                    <p:anim calcmode="lin" valueType="num">
                                      <p:cBhvr>
                                        <p:cTn id="18" dur="1000" fill="hold"/>
                                        <p:tgtEl>
                                          <p:spTgt spid="122"/>
                                        </p:tgtEl>
                                        <p:attrNameLst>
                                          <p:attrName>ppt_x</p:attrName>
                                        </p:attrNameLst>
                                      </p:cBhvr>
                                      <p:tavLst>
                                        <p:tav tm="0">
                                          <p:val>
                                            <p:strVal val="#ppt_x"/>
                                          </p:val>
                                        </p:tav>
                                        <p:tav tm="100000">
                                          <p:val>
                                            <p:strVal val="#ppt_x"/>
                                          </p:val>
                                        </p:tav>
                                      </p:tavLst>
                                    </p:anim>
                                    <p:anim calcmode="lin" valueType="num">
                                      <p:cBhvr>
                                        <p:cTn id="19" dur="1000" fill="hold"/>
                                        <p:tgtEl>
                                          <p:spTgt spid="12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1"/>
                                        </p:tgtEl>
                                        <p:attrNameLst>
                                          <p:attrName>style.visibility</p:attrName>
                                        </p:attrNameLst>
                                      </p:cBhvr>
                                      <p:to>
                                        <p:strVal val="visible"/>
                                      </p:to>
                                    </p:set>
                                    <p:animEffect transition="in" filter="fade">
                                      <p:cBhvr>
                                        <p:cTn id="22" dur="1000"/>
                                        <p:tgtEl>
                                          <p:spTgt spid="121"/>
                                        </p:tgtEl>
                                      </p:cBhvr>
                                    </p:animEffect>
                                    <p:anim calcmode="lin" valueType="num">
                                      <p:cBhvr>
                                        <p:cTn id="23" dur="1000" fill="hold"/>
                                        <p:tgtEl>
                                          <p:spTgt spid="121"/>
                                        </p:tgtEl>
                                        <p:attrNameLst>
                                          <p:attrName>ppt_x</p:attrName>
                                        </p:attrNameLst>
                                      </p:cBhvr>
                                      <p:tavLst>
                                        <p:tav tm="0">
                                          <p:val>
                                            <p:strVal val="#ppt_x"/>
                                          </p:val>
                                        </p:tav>
                                        <p:tav tm="100000">
                                          <p:val>
                                            <p:strVal val="#ppt_x"/>
                                          </p:val>
                                        </p:tav>
                                      </p:tavLst>
                                    </p:anim>
                                    <p:anim calcmode="lin" valueType="num">
                                      <p:cBhvr>
                                        <p:cTn id="24" dur="1000" fill="hold"/>
                                        <p:tgtEl>
                                          <p:spTgt spid="12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20"/>
                                        </p:tgtEl>
                                        <p:attrNameLst>
                                          <p:attrName>style.visibility</p:attrName>
                                        </p:attrNameLst>
                                      </p:cBhvr>
                                      <p:to>
                                        <p:strVal val="visible"/>
                                      </p:to>
                                    </p:set>
                                    <p:animEffect transition="in" filter="fade">
                                      <p:cBhvr>
                                        <p:cTn id="27" dur="1000"/>
                                        <p:tgtEl>
                                          <p:spTgt spid="120"/>
                                        </p:tgtEl>
                                      </p:cBhvr>
                                    </p:animEffect>
                                    <p:anim calcmode="lin" valueType="num">
                                      <p:cBhvr>
                                        <p:cTn id="28" dur="1000" fill="hold"/>
                                        <p:tgtEl>
                                          <p:spTgt spid="120"/>
                                        </p:tgtEl>
                                        <p:attrNameLst>
                                          <p:attrName>ppt_x</p:attrName>
                                        </p:attrNameLst>
                                      </p:cBhvr>
                                      <p:tavLst>
                                        <p:tav tm="0">
                                          <p:val>
                                            <p:strVal val="#ppt_x"/>
                                          </p:val>
                                        </p:tav>
                                        <p:tav tm="100000">
                                          <p:val>
                                            <p:strVal val="#ppt_x"/>
                                          </p:val>
                                        </p:tav>
                                      </p:tavLst>
                                    </p:anim>
                                    <p:anim calcmode="lin" valueType="num">
                                      <p:cBhvr>
                                        <p:cTn id="29" dur="1000" fill="hold"/>
                                        <p:tgtEl>
                                          <p:spTgt spid="120"/>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16"/>
                                        </p:tgtEl>
                                        <p:attrNameLst>
                                          <p:attrName>style.visibility</p:attrName>
                                        </p:attrNameLst>
                                      </p:cBhvr>
                                      <p:to>
                                        <p:strVal val="visible"/>
                                      </p:to>
                                    </p:set>
                                    <p:animEffect transition="in" filter="fade">
                                      <p:cBhvr>
                                        <p:cTn id="34" dur="1000"/>
                                        <p:tgtEl>
                                          <p:spTgt spid="116"/>
                                        </p:tgtEl>
                                      </p:cBhvr>
                                    </p:animEffect>
                                    <p:anim calcmode="lin" valueType="num">
                                      <p:cBhvr>
                                        <p:cTn id="35" dur="1000" fill="hold"/>
                                        <p:tgtEl>
                                          <p:spTgt spid="116"/>
                                        </p:tgtEl>
                                        <p:attrNameLst>
                                          <p:attrName>ppt_x</p:attrName>
                                        </p:attrNameLst>
                                      </p:cBhvr>
                                      <p:tavLst>
                                        <p:tav tm="0">
                                          <p:val>
                                            <p:strVal val="#ppt_x"/>
                                          </p:val>
                                        </p:tav>
                                        <p:tav tm="100000">
                                          <p:val>
                                            <p:strVal val="#ppt_x"/>
                                          </p:val>
                                        </p:tav>
                                      </p:tavLst>
                                    </p:anim>
                                    <p:anim calcmode="lin" valueType="num">
                                      <p:cBhvr>
                                        <p:cTn id="36" dur="1000" fill="hold"/>
                                        <p:tgtEl>
                                          <p:spTgt spid="11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17"/>
                                        </p:tgtEl>
                                        <p:attrNameLst>
                                          <p:attrName>style.visibility</p:attrName>
                                        </p:attrNameLst>
                                      </p:cBhvr>
                                      <p:to>
                                        <p:strVal val="visible"/>
                                      </p:to>
                                    </p:set>
                                    <p:animEffect transition="in" filter="fade">
                                      <p:cBhvr>
                                        <p:cTn id="39" dur="1000"/>
                                        <p:tgtEl>
                                          <p:spTgt spid="117"/>
                                        </p:tgtEl>
                                      </p:cBhvr>
                                    </p:animEffect>
                                    <p:anim calcmode="lin" valueType="num">
                                      <p:cBhvr>
                                        <p:cTn id="40" dur="1000" fill="hold"/>
                                        <p:tgtEl>
                                          <p:spTgt spid="117"/>
                                        </p:tgtEl>
                                        <p:attrNameLst>
                                          <p:attrName>ppt_x</p:attrName>
                                        </p:attrNameLst>
                                      </p:cBhvr>
                                      <p:tavLst>
                                        <p:tav tm="0">
                                          <p:val>
                                            <p:strVal val="#ppt_x"/>
                                          </p:val>
                                        </p:tav>
                                        <p:tav tm="100000">
                                          <p:val>
                                            <p:strVal val="#ppt_x"/>
                                          </p:val>
                                        </p:tav>
                                      </p:tavLst>
                                    </p:anim>
                                    <p:anim calcmode="lin" valueType="num">
                                      <p:cBhvr>
                                        <p:cTn id="41" dur="1000" fill="hold"/>
                                        <p:tgtEl>
                                          <p:spTgt spid="11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8"/>
                                        </p:tgtEl>
                                        <p:attrNameLst>
                                          <p:attrName>style.visibility</p:attrName>
                                        </p:attrNameLst>
                                      </p:cBhvr>
                                      <p:to>
                                        <p:strVal val="visible"/>
                                      </p:to>
                                    </p:set>
                                    <p:animEffect transition="in" filter="fade">
                                      <p:cBhvr>
                                        <p:cTn id="44" dur="1000"/>
                                        <p:tgtEl>
                                          <p:spTgt spid="118"/>
                                        </p:tgtEl>
                                      </p:cBhvr>
                                    </p:animEffect>
                                    <p:anim calcmode="lin" valueType="num">
                                      <p:cBhvr>
                                        <p:cTn id="45" dur="1000" fill="hold"/>
                                        <p:tgtEl>
                                          <p:spTgt spid="118"/>
                                        </p:tgtEl>
                                        <p:attrNameLst>
                                          <p:attrName>ppt_x</p:attrName>
                                        </p:attrNameLst>
                                      </p:cBhvr>
                                      <p:tavLst>
                                        <p:tav tm="0">
                                          <p:val>
                                            <p:strVal val="#ppt_x"/>
                                          </p:val>
                                        </p:tav>
                                        <p:tav tm="100000">
                                          <p:val>
                                            <p:strVal val="#ppt_x"/>
                                          </p:val>
                                        </p:tav>
                                      </p:tavLst>
                                    </p:anim>
                                    <p:anim calcmode="lin" valueType="num">
                                      <p:cBhvr>
                                        <p:cTn id="46" dur="1000" fill="hold"/>
                                        <p:tgtEl>
                                          <p:spTgt spid="118"/>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9"/>
                                        </p:tgtEl>
                                        <p:attrNameLst>
                                          <p:attrName>style.visibility</p:attrName>
                                        </p:attrNameLst>
                                      </p:cBhvr>
                                      <p:to>
                                        <p:strVal val="visible"/>
                                      </p:to>
                                    </p:set>
                                    <p:animEffect transition="in" filter="fade">
                                      <p:cBhvr>
                                        <p:cTn id="49" dur="1000"/>
                                        <p:tgtEl>
                                          <p:spTgt spid="119"/>
                                        </p:tgtEl>
                                      </p:cBhvr>
                                    </p:animEffect>
                                    <p:anim calcmode="lin" valueType="num">
                                      <p:cBhvr>
                                        <p:cTn id="50" dur="1000" fill="hold"/>
                                        <p:tgtEl>
                                          <p:spTgt spid="119"/>
                                        </p:tgtEl>
                                        <p:attrNameLst>
                                          <p:attrName>ppt_x</p:attrName>
                                        </p:attrNameLst>
                                      </p:cBhvr>
                                      <p:tavLst>
                                        <p:tav tm="0">
                                          <p:val>
                                            <p:strVal val="#ppt_x"/>
                                          </p:val>
                                        </p:tav>
                                        <p:tav tm="100000">
                                          <p:val>
                                            <p:strVal val="#ppt_x"/>
                                          </p:val>
                                        </p:tav>
                                      </p:tavLst>
                                    </p:anim>
                                    <p:anim calcmode="lin" valueType="num">
                                      <p:cBhvr>
                                        <p:cTn id="51" dur="1000" fill="hold"/>
                                        <p:tgtEl>
                                          <p:spTgt spid="119"/>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15"/>
                                        </p:tgtEl>
                                        <p:attrNameLst>
                                          <p:attrName>style.visibility</p:attrName>
                                        </p:attrNameLst>
                                      </p:cBhvr>
                                      <p:to>
                                        <p:strVal val="visible"/>
                                      </p:to>
                                    </p:set>
                                    <p:animEffect transition="in" filter="fade">
                                      <p:cBhvr>
                                        <p:cTn id="54" dur="1000"/>
                                        <p:tgtEl>
                                          <p:spTgt spid="115"/>
                                        </p:tgtEl>
                                      </p:cBhvr>
                                    </p:animEffect>
                                    <p:anim calcmode="lin" valueType="num">
                                      <p:cBhvr>
                                        <p:cTn id="55" dur="1000" fill="hold"/>
                                        <p:tgtEl>
                                          <p:spTgt spid="115"/>
                                        </p:tgtEl>
                                        <p:attrNameLst>
                                          <p:attrName>ppt_x</p:attrName>
                                        </p:attrNameLst>
                                      </p:cBhvr>
                                      <p:tavLst>
                                        <p:tav tm="0">
                                          <p:val>
                                            <p:strVal val="#ppt_x"/>
                                          </p:val>
                                        </p:tav>
                                        <p:tav tm="100000">
                                          <p:val>
                                            <p:strVal val="#ppt_x"/>
                                          </p:val>
                                        </p:tav>
                                      </p:tavLst>
                                    </p:anim>
                                    <p:anim calcmode="lin" valueType="num">
                                      <p:cBhvr>
                                        <p:cTn id="56" dur="1000" fill="hold"/>
                                        <p:tgtEl>
                                          <p:spTgt spid="1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p:bldP spid="116" grpId="0"/>
      <p:bldP spid="117" grpId="0"/>
      <p:bldP spid="118" grpId="0"/>
      <p:bldP spid="11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3"/>
          <a:srcRect/>
          <a:stretch>
            <a:fillRect/>
          </a:stretch>
        </p:blipFill>
        <p:spPr>
          <a:xfrm>
            <a:off x="571500" y="1676400"/>
            <a:ext cx="3492549" cy="4610100"/>
          </a:xfrm>
          <a:prstGeom prst="rect">
            <a:avLst/>
          </a:prstGeom>
          <a:noFill/>
          <a:ln>
            <a:noFill/>
          </a:ln>
        </p:spPr>
      </p:pic>
      <p:pic>
        <p:nvPicPr>
          <p:cNvPr id="129" name="Google Shape;129;p16" descr="image.png"/>
          <p:cNvPicPr preferRelativeResize="0"/>
          <p:nvPr/>
        </p:nvPicPr>
        <p:blipFill rotWithShape="1">
          <a:blip r:embed="rId4"/>
          <a:srcRect/>
          <a:stretch>
            <a:fillRect/>
          </a:stretch>
        </p:blipFill>
        <p:spPr>
          <a:xfrm>
            <a:off x="4349799" y="1676400"/>
            <a:ext cx="3492549" cy="4610100"/>
          </a:xfrm>
          <a:prstGeom prst="rect">
            <a:avLst/>
          </a:prstGeom>
          <a:noFill/>
          <a:ln>
            <a:noFill/>
          </a:ln>
        </p:spPr>
      </p:pic>
      <p:pic>
        <p:nvPicPr>
          <p:cNvPr id="130" name="Google Shape;130;p16" descr="image.png"/>
          <p:cNvPicPr preferRelativeResize="0"/>
          <p:nvPr/>
        </p:nvPicPr>
        <p:blipFill rotWithShape="1">
          <a:blip r:embed="rId5"/>
          <a:srcRect/>
          <a:stretch>
            <a:fillRect/>
          </a:stretch>
        </p:blipFill>
        <p:spPr>
          <a:xfrm>
            <a:off x="8128099" y="1676400"/>
            <a:ext cx="3492549" cy="4610100"/>
          </a:xfrm>
          <a:prstGeom prst="rect">
            <a:avLst/>
          </a:prstGeom>
          <a:noFill/>
          <a:ln>
            <a:noFill/>
          </a:ln>
        </p:spPr>
      </p:pic>
      <p:sp>
        <p:nvSpPr>
          <p:cNvPr id="131" name="Google Shape;131;p16"/>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D9488"/>
                </a:solidFill>
                <a:latin typeface="Times New Roman" panose="02020603050405020304" pitchFamily="18" charset="0"/>
                <a:ea typeface="Poppins"/>
                <a:cs typeface="Times New Roman" panose="02020603050405020304" pitchFamily="18" charset="0"/>
                <a:sym typeface="Poppins"/>
              </a:rPr>
              <a:t>Data Source</a:t>
            </a:r>
            <a:endParaRPr>
              <a:latin typeface="Times New Roman" panose="02020603050405020304" pitchFamily="18" charset="0"/>
              <a:cs typeface="Times New Roman" panose="02020603050405020304" pitchFamily="18" charset="0"/>
            </a:endParaRPr>
          </a:p>
        </p:txBody>
      </p:sp>
      <p:sp>
        <p:nvSpPr>
          <p:cNvPr id="132" name="Google Shape;132;p16"/>
          <p:cNvSpPr/>
          <p:nvPr/>
        </p:nvSpPr>
        <p:spPr>
          <a:xfrm>
            <a:off x="571500" y="1266825"/>
            <a:ext cx="11049000" cy="28575"/>
          </a:xfrm>
          <a:prstGeom prst="rect">
            <a:avLst/>
          </a:prstGeom>
          <a:solidFill>
            <a:srgbClr val="CCFB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pic>
        <p:nvPicPr>
          <p:cNvPr id="133" name="Google Shape;133;p16" descr="image.png"/>
          <p:cNvPicPr preferRelativeResize="0"/>
          <p:nvPr/>
        </p:nvPicPr>
        <p:blipFill rotWithShape="1">
          <a:blip r:embed="rId6"/>
          <a:srcRect/>
          <a:stretch>
            <a:fillRect/>
          </a:stretch>
        </p:blipFill>
        <p:spPr>
          <a:xfrm>
            <a:off x="1936700" y="1981200"/>
            <a:ext cx="762000" cy="762000"/>
          </a:xfrm>
          <a:prstGeom prst="rect">
            <a:avLst/>
          </a:prstGeom>
          <a:noFill/>
          <a:ln>
            <a:noFill/>
          </a:ln>
        </p:spPr>
      </p:pic>
      <p:sp>
        <p:nvSpPr>
          <p:cNvPr id="134" name="Google Shape;134;p16"/>
          <p:cNvSpPr txBox="1"/>
          <p:nvPr/>
        </p:nvSpPr>
        <p:spPr>
          <a:xfrm>
            <a:off x="1667619" y="2933700"/>
            <a:ext cx="1300162" cy="2160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i="0" u="none" strike="noStrike" cap="none">
                <a:solidFill>
                  <a:srgbClr val="0F172A"/>
                </a:solidFill>
                <a:latin typeface="Times New Roman" panose="02020603050405020304" pitchFamily="18" charset="0"/>
                <a:ea typeface="Poppins"/>
                <a:cs typeface="Times New Roman" panose="02020603050405020304" pitchFamily="18" charset="0"/>
                <a:sym typeface="Poppins"/>
              </a:rPr>
              <a:t>Primary Data</a:t>
            </a:r>
            <a:endParaRPr>
              <a:latin typeface="Times New Roman" panose="02020603050405020304" pitchFamily="18" charset="0"/>
              <a:cs typeface="Times New Roman" panose="02020603050405020304" pitchFamily="18" charset="0"/>
            </a:endParaRPr>
          </a:p>
        </p:txBody>
      </p:sp>
      <p:sp>
        <p:nvSpPr>
          <p:cNvPr id="135" name="Google Shape;135;p16"/>
          <p:cNvSpPr txBox="1"/>
          <p:nvPr/>
        </p:nvSpPr>
        <p:spPr>
          <a:xfrm>
            <a:off x="876300" y="3381375"/>
            <a:ext cx="2882949" cy="9971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Collected via a structured online questionnaire (Google Forms) distributed directly to AIUB students.</a:t>
            </a:r>
            <a:endParaRPr>
              <a:latin typeface="Times New Roman" panose="02020603050405020304" pitchFamily="18" charset="0"/>
              <a:cs typeface="Times New Roman" panose="02020603050405020304" pitchFamily="18" charset="0"/>
            </a:endParaRPr>
          </a:p>
        </p:txBody>
      </p:sp>
      <p:pic>
        <p:nvPicPr>
          <p:cNvPr id="136" name="Google Shape;136;p16" descr="image.png"/>
          <p:cNvPicPr preferRelativeResize="0"/>
          <p:nvPr/>
        </p:nvPicPr>
        <p:blipFill rotWithShape="1">
          <a:blip r:embed="rId7"/>
          <a:srcRect/>
          <a:stretch>
            <a:fillRect/>
          </a:stretch>
        </p:blipFill>
        <p:spPr>
          <a:xfrm>
            <a:off x="5715000" y="1981200"/>
            <a:ext cx="762000" cy="762000"/>
          </a:xfrm>
          <a:prstGeom prst="rect">
            <a:avLst/>
          </a:prstGeom>
          <a:noFill/>
          <a:ln>
            <a:noFill/>
          </a:ln>
        </p:spPr>
      </p:pic>
      <p:sp>
        <p:nvSpPr>
          <p:cNvPr id="137" name="Google Shape;137;p16"/>
          <p:cNvSpPr txBox="1"/>
          <p:nvPr/>
        </p:nvSpPr>
        <p:spPr>
          <a:xfrm>
            <a:off x="5300900" y="2933700"/>
            <a:ext cx="1590198" cy="2160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i="0" u="none" strike="noStrike" cap="none">
                <a:solidFill>
                  <a:srgbClr val="0F172A"/>
                </a:solidFill>
                <a:latin typeface="Times New Roman" panose="02020603050405020304" pitchFamily="18" charset="0"/>
                <a:ea typeface="Poppins"/>
                <a:cs typeface="Times New Roman" panose="02020603050405020304" pitchFamily="18" charset="0"/>
                <a:sym typeface="Poppins"/>
              </a:rPr>
              <a:t>Secondary Data</a:t>
            </a:r>
            <a:endParaRPr>
              <a:latin typeface="Times New Roman" panose="02020603050405020304" pitchFamily="18" charset="0"/>
              <a:cs typeface="Times New Roman" panose="02020603050405020304" pitchFamily="18" charset="0"/>
            </a:endParaRPr>
          </a:p>
        </p:txBody>
      </p:sp>
      <p:sp>
        <p:nvSpPr>
          <p:cNvPr id="138" name="Google Shape;138;p16"/>
          <p:cNvSpPr txBox="1"/>
          <p:nvPr/>
        </p:nvSpPr>
        <p:spPr>
          <a:xfrm>
            <a:off x="4654599" y="3381375"/>
            <a:ext cx="2882949" cy="9971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Peer-reviewed academic journal articles regarding digital communication and reporting systems.</a:t>
            </a:r>
            <a:endParaRPr>
              <a:latin typeface="Times New Roman" panose="02020603050405020304" pitchFamily="18" charset="0"/>
              <a:cs typeface="Times New Roman" panose="02020603050405020304" pitchFamily="18" charset="0"/>
            </a:endParaRPr>
          </a:p>
        </p:txBody>
      </p:sp>
      <p:pic>
        <p:nvPicPr>
          <p:cNvPr id="139" name="Google Shape;139;p16" descr="image.png"/>
          <p:cNvPicPr preferRelativeResize="0"/>
          <p:nvPr/>
        </p:nvPicPr>
        <p:blipFill rotWithShape="1">
          <a:blip r:embed="rId8"/>
          <a:srcRect/>
          <a:stretch>
            <a:fillRect/>
          </a:stretch>
        </p:blipFill>
        <p:spPr>
          <a:xfrm>
            <a:off x="9493299" y="1981200"/>
            <a:ext cx="762000" cy="762000"/>
          </a:xfrm>
          <a:prstGeom prst="rect">
            <a:avLst/>
          </a:prstGeom>
          <a:noFill/>
          <a:ln>
            <a:noFill/>
          </a:ln>
        </p:spPr>
      </p:pic>
      <p:sp>
        <p:nvSpPr>
          <p:cNvPr id="140" name="Google Shape;140;p16"/>
          <p:cNvSpPr txBox="1"/>
          <p:nvPr/>
        </p:nvSpPr>
        <p:spPr>
          <a:xfrm>
            <a:off x="8984188" y="2933700"/>
            <a:ext cx="1780222" cy="2160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i="0" u="none" strike="noStrike" cap="none">
                <a:solidFill>
                  <a:srgbClr val="0F172A"/>
                </a:solidFill>
                <a:latin typeface="Times New Roman" panose="02020603050405020304" pitchFamily="18" charset="0"/>
                <a:ea typeface="Poppins"/>
                <a:cs typeface="Times New Roman" panose="02020603050405020304" pitchFamily="18" charset="0"/>
                <a:sym typeface="Poppins"/>
              </a:rPr>
              <a:t>Participant Profile</a:t>
            </a:r>
            <a:endParaRPr>
              <a:latin typeface="Times New Roman" panose="02020603050405020304" pitchFamily="18" charset="0"/>
              <a:cs typeface="Times New Roman" panose="02020603050405020304" pitchFamily="18" charset="0"/>
            </a:endParaRPr>
          </a:p>
        </p:txBody>
      </p:sp>
      <p:sp>
        <p:nvSpPr>
          <p:cNvPr id="141" name="Google Shape;141;p16"/>
          <p:cNvSpPr txBox="1"/>
          <p:nvPr/>
        </p:nvSpPr>
        <p:spPr>
          <a:xfrm>
            <a:off x="8432899" y="3381375"/>
            <a:ext cx="2882949" cy="66479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Data retrieved from 23 students who engaged in the survey voluntarily.</a:t>
            </a:r>
            <a:endParaRPr>
              <a:latin typeface="Times New Roman" panose="02020603050405020304" pitchFamily="18" charset="0"/>
              <a:cs typeface="Times New Roman" panose="02020603050405020304" pitchFamily="18" charset="0"/>
            </a:endParaRPr>
          </a:p>
        </p:txBody>
      </p:sp>
      <p:pic>
        <p:nvPicPr>
          <p:cNvPr id="142" name="Google Shape;142;p16" descr="image.png"/>
          <p:cNvPicPr preferRelativeResize="0"/>
          <p:nvPr/>
        </p:nvPicPr>
        <p:blipFill rotWithShape="1">
          <a:blip r:embed="rId9"/>
          <a:srcRect/>
          <a:stretch>
            <a:fillRect/>
          </a:stretch>
        </p:blipFill>
        <p:spPr>
          <a:xfrm>
            <a:off x="2203400" y="2209800"/>
            <a:ext cx="228600" cy="304800"/>
          </a:xfrm>
          <a:prstGeom prst="rect">
            <a:avLst/>
          </a:prstGeom>
          <a:noFill/>
          <a:ln>
            <a:noFill/>
          </a:ln>
        </p:spPr>
      </p:pic>
      <p:pic>
        <p:nvPicPr>
          <p:cNvPr id="143" name="Google Shape;143;p16" descr="image.png"/>
          <p:cNvPicPr preferRelativeResize="0"/>
          <p:nvPr/>
        </p:nvPicPr>
        <p:blipFill rotWithShape="1">
          <a:blip r:embed="rId10"/>
          <a:srcRect/>
          <a:stretch>
            <a:fillRect/>
          </a:stretch>
        </p:blipFill>
        <p:spPr>
          <a:xfrm>
            <a:off x="5924550" y="2209800"/>
            <a:ext cx="342900" cy="304800"/>
          </a:xfrm>
          <a:prstGeom prst="rect">
            <a:avLst/>
          </a:prstGeom>
          <a:noFill/>
          <a:ln>
            <a:noFill/>
          </a:ln>
        </p:spPr>
      </p:pic>
      <p:pic>
        <p:nvPicPr>
          <p:cNvPr id="144" name="Google Shape;144;p16" descr="image.png"/>
          <p:cNvPicPr preferRelativeResize="0"/>
          <p:nvPr/>
        </p:nvPicPr>
        <p:blipFill rotWithShape="1">
          <a:blip r:embed="rId11"/>
          <a:srcRect/>
          <a:stretch>
            <a:fillRect/>
          </a:stretch>
        </p:blipFill>
        <p:spPr>
          <a:xfrm>
            <a:off x="9683799" y="2209800"/>
            <a:ext cx="381000" cy="304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additive="base">
                                        <p:cTn id="7" dur="500" fill="hold"/>
                                        <p:tgtEl>
                                          <p:spTgt spid="131"/>
                                        </p:tgtEl>
                                        <p:attrNameLst>
                                          <p:attrName>ppt_x</p:attrName>
                                        </p:attrNameLst>
                                      </p:cBhvr>
                                      <p:tavLst>
                                        <p:tav tm="0">
                                          <p:val>
                                            <p:strVal val="#ppt_x"/>
                                          </p:val>
                                        </p:tav>
                                        <p:tav tm="100000">
                                          <p:val>
                                            <p:strVal val="#ppt_x"/>
                                          </p:val>
                                        </p:tav>
                                      </p:tavLst>
                                    </p:anim>
                                    <p:anim calcmode="lin" valueType="num">
                                      <p:cBhvr additive="base">
                                        <p:cTn id="8" dur="500" fill="hold"/>
                                        <p:tgtEl>
                                          <p:spTgt spid="13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3"/>
                                        </p:tgtEl>
                                        <p:attrNameLst>
                                          <p:attrName>style.visibility</p:attrName>
                                        </p:attrNameLst>
                                      </p:cBhvr>
                                      <p:to>
                                        <p:strVal val="visible"/>
                                      </p:to>
                                    </p:set>
                                    <p:anim calcmode="lin" valueType="num">
                                      <p:cBhvr additive="base">
                                        <p:cTn id="11" dur="500" fill="hold"/>
                                        <p:tgtEl>
                                          <p:spTgt spid="133"/>
                                        </p:tgtEl>
                                        <p:attrNameLst>
                                          <p:attrName>ppt_x</p:attrName>
                                        </p:attrNameLst>
                                      </p:cBhvr>
                                      <p:tavLst>
                                        <p:tav tm="0">
                                          <p:val>
                                            <p:strVal val="#ppt_x"/>
                                          </p:val>
                                        </p:tav>
                                        <p:tav tm="100000">
                                          <p:val>
                                            <p:strVal val="#ppt_x"/>
                                          </p:val>
                                        </p:tav>
                                      </p:tavLst>
                                    </p:anim>
                                    <p:anim calcmode="lin" valueType="num">
                                      <p:cBhvr additive="base">
                                        <p:cTn id="12" dur="500" fill="hold"/>
                                        <p:tgtEl>
                                          <p:spTgt spid="13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6"/>
                                        </p:tgtEl>
                                        <p:attrNameLst>
                                          <p:attrName>style.visibility</p:attrName>
                                        </p:attrNameLst>
                                      </p:cBhvr>
                                      <p:to>
                                        <p:strVal val="visible"/>
                                      </p:to>
                                    </p:set>
                                    <p:anim calcmode="lin" valueType="num">
                                      <p:cBhvr additive="base">
                                        <p:cTn id="15" dur="500" fill="hold"/>
                                        <p:tgtEl>
                                          <p:spTgt spid="136"/>
                                        </p:tgtEl>
                                        <p:attrNameLst>
                                          <p:attrName>ppt_x</p:attrName>
                                        </p:attrNameLst>
                                      </p:cBhvr>
                                      <p:tavLst>
                                        <p:tav tm="0">
                                          <p:val>
                                            <p:strVal val="#ppt_x"/>
                                          </p:val>
                                        </p:tav>
                                        <p:tav tm="100000">
                                          <p:val>
                                            <p:strVal val="#ppt_x"/>
                                          </p:val>
                                        </p:tav>
                                      </p:tavLst>
                                    </p:anim>
                                    <p:anim calcmode="lin" valueType="num">
                                      <p:cBhvr additive="base">
                                        <p:cTn id="16" dur="500" fill="hold"/>
                                        <p:tgtEl>
                                          <p:spTgt spid="13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9"/>
                                        </p:tgtEl>
                                        <p:attrNameLst>
                                          <p:attrName>style.visibility</p:attrName>
                                        </p:attrNameLst>
                                      </p:cBhvr>
                                      <p:to>
                                        <p:strVal val="visible"/>
                                      </p:to>
                                    </p:set>
                                    <p:anim calcmode="lin" valueType="num">
                                      <p:cBhvr additive="base">
                                        <p:cTn id="19" dur="500" fill="hold"/>
                                        <p:tgtEl>
                                          <p:spTgt spid="139"/>
                                        </p:tgtEl>
                                        <p:attrNameLst>
                                          <p:attrName>ppt_x</p:attrName>
                                        </p:attrNameLst>
                                      </p:cBhvr>
                                      <p:tavLst>
                                        <p:tav tm="0">
                                          <p:val>
                                            <p:strVal val="#ppt_x"/>
                                          </p:val>
                                        </p:tav>
                                        <p:tav tm="100000">
                                          <p:val>
                                            <p:strVal val="#ppt_x"/>
                                          </p:val>
                                        </p:tav>
                                      </p:tavLst>
                                    </p:anim>
                                    <p:anim calcmode="lin" valueType="num">
                                      <p:cBhvr additive="base">
                                        <p:cTn id="20" dur="500" fill="hold"/>
                                        <p:tgtEl>
                                          <p:spTgt spid="13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30"/>
                                        </p:tgtEl>
                                        <p:attrNameLst>
                                          <p:attrName>style.visibility</p:attrName>
                                        </p:attrNameLst>
                                      </p:cBhvr>
                                      <p:to>
                                        <p:strVal val="visible"/>
                                      </p:to>
                                    </p:set>
                                    <p:anim calcmode="lin" valueType="num">
                                      <p:cBhvr additive="base">
                                        <p:cTn id="23" dur="500" fill="hold"/>
                                        <p:tgtEl>
                                          <p:spTgt spid="130"/>
                                        </p:tgtEl>
                                        <p:attrNameLst>
                                          <p:attrName>ppt_x</p:attrName>
                                        </p:attrNameLst>
                                      </p:cBhvr>
                                      <p:tavLst>
                                        <p:tav tm="0">
                                          <p:val>
                                            <p:strVal val="#ppt_x"/>
                                          </p:val>
                                        </p:tav>
                                        <p:tav tm="100000">
                                          <p:val>
                                            <p:strVal val="#ppt_x"/>
                                          </p:val>
                                        </p:tav>
                                      </p:tavLst>
                                    </p:anim>
                                    <p:anim calcmode="lin" valueType="num">
                                      <p:cBhvr additive="base">
                                        <p:cTn id="24" dur="500" fill="hold"/>
                                        <p:tgtEl>
                                          <p:spTgt spid="13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9"/>
                                        </p:tgtEl>
                                        <p:attrNameLst>
                                          <p:attrName>style.visibility</p:attrName>
                                        </p:attrNameLst>
                                      </p:cBhvr>
                                      <p:to>
                                        <p:strVal val="visible"/>
                                      </p:to>
                                    </p:set>
                                    <p:anim calcmode="lin" valueType="num">
                                      <p:cBhvr additive="base">
                                        <p:cTn id="27" dur="500" fill="hold"/>
                                        <p:tgtEl>
                                          <p:spTgt spid="129"/>
                                        </p:tgtEl>
                                        <p:attrNameLst>
                                          <p:attrName>ppt_x</p:attrName>
                                        </p:attrNameLst>
                                      </p:cBhvr>
                                      <p:tavLst>
                                        <p:tav tm="0">
                                          <p:val>
                                            <p:strVal val="#ppt_x"/>
                                          </p:val>
                                        </p:tav>
                                        <p:tav tm="100000">
                                          <p:val>
                                            <p:strVal val="#ppt_x"/>
                                          </p:val>
                                        </p:tav>
                                      </p:tavLst>
                                    </p:anim>
                                    <p:anim calcmode="lin" valueType="num">
                                      <p:cBhvr additive="base">
                                        <p:cTn id="28" dur="500" fill="hold"/>
                                        <p:tgtEl>
                                          <p:spTgt spid="12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28"/>
                                        </p:tgtEl>
                                        <p:attrNameLst>
                                          <p:attrName>style.visibility</p:attrName>
                                        </p:attrNameLst>
                                      </p:cBhvr>
                                      <p:to>
                                        <p:strVal val="visible"/>
                                      </p:to>
                                    </p:set>
                                    <p:anim calcmode="lin" valueType="num">
                                      <p:cBhvr additive="base">
                                        <p:cTn id="31" dur="500" fill="hold"/>
                                        <p:tgtEl>
                                          <p:spTgt spid="128"/>
                                        </p:tgtEl>
                                        <p:attrNameLst>
                                          <p:attrName>ppt_x</p:attrName>
                                        </p:attrNameLst>
                                      </p:cBhvr>
                                      <p:tavLst>
                                        <p:tav tm="0">
                                          <p:val>
                                            <p:strVal val="#ppt_x"/>
                                          </p:val>
                                        </p:tav>
                                        <p:tav tm="100000">
                                          <p:val>
                                            <p:strVal val="#ppt_x"/>
                                          </p:val>
                                        </p:tav>
                                      </p:tavLst>
                                    </p:anim>
                                    <p:anim calcmode="lin" valueType="num">
                                      <p:cBhvr additive="base">
                                        <p:cTn id="32" dur="500" fill="hold"/>
                                        <p:tgtEl>
                                          <p:spTgt spid="12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142"/>
                                        </p:tgtEl>
                                        <p:attrNameLst>
                                          <p:attrName>style.visibility</p:attrName>
                                        </p:attrNameLst>
                                      </p:cBhvr>
                                      <p:to>
                                        <p:strVal val="visible"/>
                                      </p:to>
                                    </p:set>
                                    <p:animEffect transition="in" filter="circle(in)">
                                      <p:cBhvr>
                                        <p:cTn id="37" dur="2000"/>
                                        <p:tgtEl>
                                          <p:spTgt spid="142"/>
                                        </p:tgtEl>
                                      </p:cBhvr>
                                    </p:animEffect>
                                  </p:childTnLst>
                                </p:cTn>
                              </p:par>
                              <p:par>
                                <p:cTn id="38" presetID="6" presetClass="entr" presetSubtype="16" fill="hold" nodeType="withEffect">
                                  <p:stCondLst>
                                    <p:cond delay="0"/>
                                  </p:stCondLst>
                                  <p:childTnLst>
                                    <p:set>
                                      <p:cBhvr>
                                        <p:cTn id="39" dur="1" fill="hold">
                                          <p:stCondLst>
                                            <p:cond delay="0"/>
                                          </p:stCondLst>
                                        </p:cTn>
                                        <p:tgtEl>
                                          <p:spTgt spid="143"/>
                                        </p:tgtEl>
                                        <p:attrNameLst>
                                          <p:attrName>style.visibility</p:attrName>
                                        </p:attrNameLst>
                                      </p:cBhvr>
                                      <p:to>
                                        <p:strVal val="visible"/>
                                      </p:to>
                                    </p:set>
                                    <p:animEffect transition="in" filter="circle(in)">
                                      <p:cBhvr>
                                        <p:cTn id="40" dur="2000"/>
                                        <p:tgtEl>
                                          <p:spTgt spid="143"/>
                                        </p:tgtEl>
                                      </p:cBhvr>
                                    </p:animEffect>
                                  </p:childTnLst>
                                </p:cTn>
                              </p:par>
                              <p:par>
                                <p:cTn id="41" presetID="6" presetClass="entr" presetSubtype="16" fill="hold" nodeType="withEffect">
                                  <p:stCondLst>
                                    <p:cond delay="0"/>
                                  </p:stCondLst>
                                  <p:childTnLst>
                                    <p:set>
                                      <p:cBhvr>
                                        <p:cTn id="42" dur="1" fill="hold">
                                          <p:stCondLst>
                                            <p:cond delay="0"/>
                                          </p:stCondLst>
                                        </p:cTn>
                                        <p:tgtEl>
                                          <p:spTgt spid="144"/>
                                        </p:tgtEl>
                                        <p:attrNameLst>
                                          <p:attrName>style.visibility</p:attrName>
                                        </p:attrNameLst>
                                      </p:cBhvr>
                                      <p:to>
                                        <p:strVal val="visible"/>
                                      </p:to>
                                    </p:set>
                                    <p:animEffect transition="in" filter="circle(in)">
                                      <p:cBhvr>
                                        <p:cTn id="43" dur="2000"/>
                                        <p:tgtEl>
                                          <p:spTgt spid="144"/>
                                        </p:tgtEl>
                                      </p:cBhvr>
                                    </p:animEffect>
                                  </p:childTnLst>
                                </p:cTn>
                              </p:par>
                              <p:par>
                                <p:cTn id="44" presetID="6" presetClass="entr" presetSubtype="16" fill="hold" grpId="0" nodeType="withEffect">
                                  <p:stCondLst>
                                    <p:cond delay="0"/>
                                  </p:stCondLst>
                                  <p:childTnLst>
                                    <p:set>
                                      <p:cBhvr>
                                        <p:cTn id="45" dur="1" fill="hold">
                                          <p:stCondLst>
                                            <p:cond delay="0"/>
                                          </p:stCondLst>
                                        </p:cTn>
                                        <p:tgtEl>
                                          <p:spTgt spid="140"/>
                                        </p:tgtEl>
                                        <p:attrNameLst>
                                          <p:attrName>style.visibility</p:attrName>
                                        </p:attrNameLst>
                                      </p:cBhvr>
                                      <p:to>
                                        <p:strVal val="visible"/>
                                      </p:to>
                                    </p:set>
                                    <p:animEffect transition="in" filter="circle(in)">
                                      <p:cBhvr>
                                        <p:cTn id="46" dur="2000"/>
                                        <p:tgtEl>
                                          <p:spTgt spid="140"/>
                                        </p:tgtEl>
                                      </p:cBhvr>
                                    </p:animEffect>
                                  </p:childTnLst>
                                </p:cTn>
                              </p:par>
                              <p:par>
                                <p:cTn id="47" presetID="6" presetClass="entr" presetSubtype="16" fill="hold" grpId="0" nodeType="withEffect">
                                  <p:stCondLst>
                                    <p:cond delay="0"/>
                                  </p:stCondLst>
                                  <p:childTnLst>
                                    <p:set>
                                      <p:cBhvr>
                                        <p:cTn id="48" dur="1" fill="hold">
                                          <p:stCondLst>
                                            <p:cond delay="0"/>
                                          </p:stCondLst>
                                        </p:cTn>
                                        <p:tgtEl>
                                          <p:spTgt spid="137"/>
                                        </p:tgtEl>
                                        <p:attrNameLst>
                                          <p:attrName>style.visibility</p:attrName>
                                        </p:attrNameLst>
                                      </p:cBhvr>
                                      <p:to>
                                        <p:strVal val="visible"/>
                                      </p:to>
                                    </p:set>
                                    <p:animEffect transition="in" filter="circle(in)">
                                      <p:cBhvr>
                                        <p:cTn id="49" dur="2000"/>
                                        <p:tgtEl>
                                          <p:spTgt spid="137"/>
                                        </p:tgtEl>
                                      </p:cBhvr>
                                    </p:animEffect>
                                  </p:childTnLst>
                                </p:cTn>
                              </p:par>
                              <p:par>
                                <p:cTn id="50" presetID="6" presetClass="entr" presetSubtype="16" fill="hold" grpId="0" nodeType="withEffect">
                                  <p:stCondLst>
                                    <p:cond delay="0"/>
                                  </p:stCondLst>
                                  <p:childTnLst>
                                    <p:set>
                                      <p:cBhvr>
                                        <p:cTn id="51" dur="1" fill="hold">
                                          <p:stCondLst>
                                            <p:cond delay="0"/>
                                          </p:stCondLst>
                                        </p:cTn>
                                        <p:tgtEl>
                                          <p:spTgt spid="134"/>
                                        </p:tgtEl>
                                        <p:attrNameLst>
                                          <p:attrName>style.visibility</p:attrName>
                                        </p:attrNameLst>
                                      </p:cBhvr>
                                      <p:to>
                                        <p:strVal val="visible"/>
                                      </p:to>
                                    </p:set>
                                    <p:animEffect transition="in" filter="circle(in)">
                                      <p:cBhvr>
                                        <p:cTn id="52" dur="2000"/>
                                        <p:tgtEl>
                                          <p:spTgt spid="13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35"/>
                                        </p:tgtEl>
                                        <p:attrNameLst>
                                          <p:attrName>style.visibility</p:attrName>
                                        </p:attrNameLst>
                                      </p:cBhvr>
                                      <p:to>
                                        <p:strVal val="visible"/>
                                      </p:to>
                                    </p:set>
                                    <p:animEffect transition="in" filter="wipe(up)">
                                      <p:cBhvr>
                                        <p:cTn id="57" dur="500"/>
                                        <p:tgtEl>
                                          <p:spTgt spid="135"/>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38"/>
                                        </p:tgtEl>
                                        <p:attrNameLst>
                                          <p:attrName>style.visibility</p:attrName>
                                        </p:attrNameLst>
                                      </p:cBhvr>
                                      <p:to>
                                        <p:strVal val="visible"/>
                                      </p:to>
                                    </p:set>
                                    <p:animEffect transition="in" filter="wipe(up)">
                                      <p:cBhvr>
                                        <p:cTn id="60" dur="500"/>
                                        <p:tgtEl>
                                          <p:spTgt spid="138"/>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141"/>
                                        </p:tgtEl>
                                        <p:attrNameLst>
                                          <p:attrName>style.visibility</p:attrName>
                                        </p:attrNameLst>
                                      </p:cBhvr>
                                      <p:to>
                                        <p:strVal val="visible"/>
                                      </p:to>
                                    </p:set>
                                    <p:animEffect transition="in" filter="wipe(up)">
                                      <p:cBhvr>
                                        <p:cTn id="63"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P spid="134" grpId="0"/>
      <p:bldP spid="135" grpId="0"/>
      <p:bldP spid="137" grpId="0"/>
      <p:bldP spid="138" grpId="0"/>
      <p:bldP spid="140" grpId="0"/>
      <p:bldP spid="14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8"/>
        <p:cNvGrpSpPr/>
        <p:nvPr/>
      </p:nvGrpSpPr>
      <p:grpSpPr>
        <a:xfrm>
          <a:off x="0" y="0"/>
          <a:ext cx="0" cy="0"/>
          <a:chOff x="0" y="0"/>
          <a:chExt cx="0" cy="0"/>
        </a:xfrm>
      </p:grpSpPr>
      <p:sp>
        <p:nvSpPr>
          <p:cNvPr id="159" name="Google Shape;159;p17"/>
          <p:cNvSpPr/>
          <p:nvPr/>
        </p:nvSpPr>
        <p:spPr>
          <a:xfrm>
            <a:off x="1047750" y="3155602"/>
            <a:ext cx="10096500" cy="38100"/>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pic>
        <p:nvPicPr>
          <p:cNvPr id="149" name="Google Shape;149;p17" descr="image.png"/>
          <p:cNvPicPr preferRelativeResize="0"/>
          <p:nvPr/>
        </p:nvPicPr>
        <p:blipFill rotWithShape="1">
          <a:blip r:embed="rId3"/>
          <a:srcRect/>
          <a:stretch>
            <a:fillRect/>
          </a:stretch>
        </p:blipFill>
        <p:spPr>
          <a:xfrm>
            <a:off x="1548705" y="2917477"/>
            <a:ext cx="476250" cy="476250"/>
          </a:xfrm>
          <a:prstGeom prst="rect">
            <a:avLst/>
          </a:prstGeom>
          <a:solidFill>
            <a:schemeClr val="tx1"/>
          </a:solidFill>
          <a:ln>
            <a:noFill/>
          </a:ln>
        </p:spPr>
      </p:pic>
      <p:pic>
        <p:nvPicPr>
          <p:cNvPr id="150" name="Google Shape;150;p17" descr="image.png"/>
          <p:cNvPicPr preferRelativeResize="0"/>
          <p:nvPr/>
        </p:nvPicPr>
        <p:blipFill rotWithShape="1">
          <a:blip r:embed="rId4"/>
          <a:srcRect/>
          <a:stretch>
            <a:fillRect/>
          </a:stretch>
        </p:blipFill>
        <p:spPr>
          <a:xfrm>
            <a:off x="571500" y="3584227"/>
            <a:ext cx="2430660" cy="1567755"/>
          </a:xfrm>
          <a:prstGeom prst="rect">
            <a:avLst/>
          </a:prstGeom>
          <a:noFill/>
          <a:ln>
            <a:noFill/>
          </a:ln>
        </p:spPr>
      </p:pic>
      <p:pic>
        <p:nvPicPr>
          <p:cNvPr id="151" name="Google Shape;151;p17" descr="image.png"/>
          <p:cNvPicPr preferRelativeResize="0"/>
          <p:nvPr/>
        </p:nvPicPr>
        <p:blipFill rotWithShape="1">
          <a:blip r:embed="rId5"/>
          <a:srcRect/>
          <a:stretch>
            <a:fillRect/>
          </a:stretch>
        </p:blipFill>
        <p:spPr>
          <a:xfrm>
            <a:off x="4421385" y="2917477"/>
            <a:ext cx="476250" cy="476250"/>
          </a:xfrm>
          <a:prstGeom prst="rect">
            <a:avLst/>
          </a:prstGeom>
          <a:solidFill>
            <a:schemeClr val="tx1"/>
          </a:solidFill>
          <a:ln>
            <a:noFill/>
          </a:ln>
        </p:spPr>
      </p:pic>
      <p:pic>
        <p:nvPicPr>
          <p:cNvPr id="152" name="Google Shape;152;p17" descr="image.png"/>
          <p:cNvPicPr preferRelativeResize="0"/>
          <p:nvPr/>
        </p:nvPicPr>
        <p:blipFill rotWithShape="1">
          <a:blip r:embed="rId6"/>
          <a:srcRect/>
          <a:stretch>
            <a:fillRect/>
          </a:stretch>
        </p:blipFill>
        <p:spPr>
          <a:xfrm>
            <a:off x="3444180" y="3584227"/>
            <a:ext cx="2430660" cy="1842045"/>
          </a:xfrm>
          <a:prstGeom prst="rect">
            <a:avLst/>
          </a:prstGeom>
          <a:noFill/>
          <a:ln>
            <a:noFill/>
          </a:ln>
        </p:spPr>
      </p:pic>
      <p:pic>
        <p:nvPicPr>
          <p:cNvPr id="153" name="Google Shape;153;p17" descr="image.png"/>
          <p:cNvPicPr preferRelativeResize="0"/>
          <p:nvPr/>
        </p:nvPicPr>
        <p:blipFill rotWithShape="1">
          <a:blip r:embed="rId7"/>
          <a:srcRect/>
          <a:stretch>
            <a:fillRect/>
          </a:stretch>
        </p:blipFill>
        <p:spPr>
          <a:xfrm>
            <a:off x="7294066" y="2917477"/>
            <a:ext cx="476250" cy="476250"/>
          </a:xfrm>
          <a:prstGeom prst="rect">
            <a:avLst/>
          </a:prstGeom>
          <a:solidFill>
            <a:schemeClr val="tx1"/>
          </a:solidFill>
          <a:ln>
            <a:noFill/>
          </a:ln>
        </p:spPr>
      </p:pic>
      <p:pic>
        <p:nvPicPr>
          <p:cNvPr id="154" name="Google Shape;154;p17" descr="image.png"/>
          <p:cNvPicPr preferRelativeResize="0"/>
          <p:nvPr/>
        </p:nvPicPr>
        <p:blipFill rotWithShape="1">
          <a:blip r:embed="rId8"/>
          <a:srcRect/>
          <a:stretch>
            <a:fillRect/>
          </a:stretch>
        </p:blipFill>
        <p:spPr>
          <a:xfrm>
            <a:off x="6316860" y="3584227"/>
            <a:ext cx="2430660" cy="1842045"/>
          </a:xfrm>
          <a:prstGeom prst="rect">
            <a:avLst/>
          </a:prstGeom>
          <a:noFill/>
          <a:ln>
            <a:noFill/>
          </a:ln>
        </p:spPr>
      </p:pic>
      <p:pic>
        <p:nvPicPr>
          <p:cNvPr id="155" name="Google Shape;155;p17" descr="image.png"/>
          <p:cNvPicPr preferRelativeResize="0"/>
          <p:nvPr/>
        </p:nvPicPr>
        <p:blipFill rotWithShape="1">
          <a:blip r:embed="rId9"/>
          <a:srcRect/>
          <a:stretch>
            <a:fillRect/>
          </a:stretch>
        </p:blipFill>
        <p:spPr>
          <a:xfrm>
            <a:off x="10166746" y="2917477"/>
            <a:ext cx="476250" cy="476250"/>
          </a:xfrm>
          <a:prstGeom prst="rect">
            <a:avLst/>
          </a:prstGeom>
          <a:solidFill>
            <a:schemeClr val="tx1"/>
          </a:solidFill>
          <a:ln>
            <a:noFill/>
          </a:ln>
        </p:spPr>
      </p:pic>
      <p:pic>
        <p:nvPicPr>
          <p:cNvPr id="156" name="Google Shape;156;p17" descr="image.png"/>
          <p:cNvPicPr preferRelativeResize="0"/>
          <p:nvPr/>
        </p:nvPicPr>
        <p:blipFill rotWithShape="1">
          <a:blip r:embed="rId10"/>
          <a:srcRect/>
          <a:stretch>
            <a:fillRect/>
          </a:stretch>
        </p:blipFill>
        <p:spPr>
          <a:xfrm>
            <a:off x="9189541" y="3584227"/>
            <a:ext cx="2430660" cy="1567755"/>
          </a:xfrm>
          <a:prstGeom prst="rect">
            <a:avLst/>
          </a:prstGeom>
          <a:noFill/>
          <a:ln>
            <a:noFill/>
          </a:ln>
        </p:spPr>
      </p:pic>
      <p:sp>
        <p:nvSpPr>
          <p:cNvPr id="157" name="Google Shape;157;p17"/>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D9488"/>
                </a:solidFill>
                <a:latin typeface="Times New Roman" panose="02020603050405020304" pitchFamily="18" charset="0"/>
                <a:ea typeface="Poppins"/>
                <a:cs typeface="Times New Roman" panose="02020603050405020304" pitchFamily="18" charset="0"/>
                <a:sym typeface="Poppins"/>
              </a:rPr>
              <a:t>Methodology</a:t>
            </a:r>
            <a:endParaRPr>
              <a:latin typeface="Times New Roman" panose="02020603050405020304" pitchFamily="18" charset="0"/>
              <a:cs typeface="Times New Roman" panose="02020603050405020304" pitchFamily="18" charset="0"/>
            </a:endParaRPr>
          </a:p>
        </p:txBody>
      </p:sp>
      <p:sp>
        <p:nvSpPr>
          <p:cNvPr id="158" name="Google Shape;158;p17"/>
          <p:cNvSpPr/>
          <p:nvPr/>
        </p:nvSpPr>
        <p:spPr>
          <a:xfrm>
            <a:off x="571500" y="1266825"/>
            <a:ext cx="11049000" cy="28575"/>
          </a:xfrm>
          <a:prstGeom prst="rect">
            <a:avLst/>
          </a:prstGeom>
          <a:solidFill>
            <a:srgbClr val="CCFB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60" name="Google Shape;160;p17"/>
          <p:cNvSpPr txBox="1"/>
          <p:nvPr/>
        </p:nvSpPr>
        <p:spPr>
          <a:xfrm>
            <a:off x="720759" y="3784252"/>
            <a:ext cx="2132141" cy="2160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i="0" u="none" strike="noStrike" cap="none" dirty="0">
                <a:solidFill>
                  <a:srgbClr val="0F172A"/>
                </a:solidFill>
                <a:latin typeface="Times New Roman" panose="02020603050405020304" pitchFamily="18" charset="0"/>
                <a:ea typeface="Poppins"/>
                <a:cs typeface="Times New Roman" panose="02020603050405020304" pitchFamily="18" charset="0"/>
                <a:sym typeface="Poppins"/>
              </a:rPr>
              <a:t>Research Design</a:t>
            </a:r>
            <a:endParaRPr dirty="0">
              <a:latin typeface="Times New Roman" panose="02020603050405020304" pitchFamily="18" charset="0"/>
              <a:cs typeface="Times New Roman" panose="02020603050405020304" pitchFamily="18" charset="0"/>
            </a:endParaRPr>
          </a:p>
        </p:txBody>
      </p:sp>
      <p:sp>
        <p:nvSpPr>
          <p:cNvPr id="161" name="Google Shape;161;p17"/>
          <p:cNvSpPr txBox="1"/>
          <p:nvPr/>
        </p:nvSpPr>
        <p:spPr>
          <a:xfrm>
            <a:off x="771525" y="4231927"/>
            <a:ext cx="2030610" cy="66479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Quantitative descriptive research design.</a:t>
            </a:r>
            <a:endParaRPr>
              <a:latin typeface="Times New Roman" panose="02020603050405020304" pitchFamily="18" charset="0"/>
              <a:cs typeface="Times New Roman" panose="02020603050405020304" pitchFamily="18" charset="0"/>
            </a:endParaRPr>
          </a:p>
        </p:txBody>
      </p:sp>
      <p:sp>
        <p:nvSpPr>
          <p:cNvPr id="162" name="Google Shape;162;p17"/>
          <p:cNvSpPr txBox="1"/>
          <p:nvPr/>
        </p:nvSpPr>
        <p:spPr>
          <a:xfrm>
            <a:off x="3593440" y="3784252"/>
            <a:ext cx="2132141" cy="2160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i="0" u="none" strike="noStrike" cap="none">
                <a:solidFill>
                  <a:srgbClr val="0F172A"/>
                </a:solidFill>
                <a:latin typeface="Times New Roman" panose="02020603050405020304" pitchFamily="18" charset="0"/>
                <a:ea typeface="Poppins"/>
                <a:cs typeface="Times New Roman" panose="02020603050405020304" pitchFamily="18" charset="0"/>
                <a:sym typeface="Poppins"/>
              </a:rPr>
              <a:t>Sampling</a:t>
            </a:r>
            <a:endParaRPr>
              <a:latin typeface="Times New Roman" panose="02020603050405020304" pitchFamily="18" charset="0"/>
              <a:cs typeface="Times New Roman" panose="02020603050405020304" pitchFamily="18" charset="0"/>
            </a:endParaRPr>
          </a:p>
        </p:txBody>
      </p:sp>
      <p:sp>
        <p:nvSpPr>
          <p:cNvPr id="163" name="Google Shape;163;p17"/>
          <p:cNvSpPr txBox="1"/>
          <p:nvPr/>
        </p:nvSpPr>
        <p:spPr>
          <a:xfrm>
            <a:off x="3644205" y="4231927"/>
            <a:ext cx="2030610" cy="66479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Convenience sampling within the AIUB community.</a:t>
            </a:r>
            <a:endParaRPr>
              <a:latin typeface="Times New Roman" panose="02020603050405020304" pitchFamily="18" charset="0"/>
              <a:cs typeface="Times New Roman" panose="02020603050405020304" pitchFamily="18" charset="0"/>
            </a:endParaRPr>
          </a:p>
        </p:txBody>
      </p:sp>
      <p:sp>
        <p:nvSpPr>
          <p:cNvPr id="164" name="Google Shape;164;p17"/>
          <p:cNvSpPr txBox="1"/>
          <p:nvPr/>
        </p:nvSpPr>
        <p:spPr>
          <a:xfrm>
            <a:off x="6466120" y="3784252"/>
            <a:ext cx="2132141" cy="2160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i="0" u="none" strike="noStrike" cap="none">
                <a:solidFill>
                  <a:srgbClr val="0F172A"/>
                </a:solidFill>
                <a:latin typeface="Times New Roman" panose="02020603050405020304" pitchFamily="18" charset="0"/>
                <a:ea typeface="Poppins"/>
                <a:cs typeface="Times New Roman" panose="02020603050405020304" pitchFamily="18" charset="0"/>
                <a:sym typeface="Poppins"/>
              </a:rPr>
              <a:t>Instrument</a:t>
            </a:r>
            <a:endParaRPr>
              <a:latin typeface="Times New Roman" panose="02020603050405020304" pitchFamily="18" charset="0"/>
              <a:cs typeface="Times New Roman" panose="02020603050405020304" pitchFamily="18" charset="0"/>
            </a:endParaRPr>
          </a:p>
        </p:txBody>
      </p:sp>
      <p:sp>
        <p:nvSpPr>
          <p:cNvPr id="165" name="Google Shape;165;p17"/>
          <p:cNvSpPr txBox="1"/>
          <p:nvPr/>
        </p:nvSpPr>
        <p:spPr>
          <a:xfrm>
            <a:off x="6516885" y="4231927"/>
            <a:ext cx="2030610" cy="66479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13-question survey (Multiple choice &amp; Likert Scale).</a:t>
            </a:r>
            <a:endParaRPr>
              <a:latin typeface="Times New Roman" panose="02020603050405020304" pitchFamily="18" charset="0"/>
              <a:cs typeface="Times New Roman" panose="02020603050405020304" pitchFamily="18" charset="0"/>
            </a:endParaRPr>
          </a:p>
        </p:txBody>
      </p:sp>
      <p:sp>
        <p:nvSpPr>
          <p:cNvPr id="166" name="Google Shape;166;p17"/>
          <p:cNvSpPr txBox="1"/>
          <p:nvPr/>
        </p:nvSpPr>
        <p:spPr>
          <a:xfrm>
            <a:off x="9338801" y="3784252"/>
            <a:ext cx="2132141" cy="2160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5" b="1" i="0" u="none" strike="noStrike" cap="none">
                <a:solidFill>
                  <a:srgbClr val="0F172A"/>
                </a:solidFill>
                <a:latin typeface="Times New Roman" panose="02020603050405020304" pitchFamily="18" charset="0"/>
                <a:ea typeface="Poppins"/>
                <a:cs typeface="Times New Roman" panose="02020603050405020304" pitchFamily="18" charset="0"/>
                <a:sym typeface="Poppins"/>
              </a:rPr>
              <a:t>Ethics</a:t>
            </a:r>
            <a:endParaRPr>
              <a:latin typeface="Times New Roman" panose="02020603050405020304" pitchFamily="18" charset="0"/>
              <a:cs typeface="Times New Roman" panose="02020603050405020304" pitchFamily="18" charset="0"/>
            </a:endParaRPr>
          </a:p>
        </p:txBody>
      </p:sp>
      <p:sp>
        <p:nvSpPr>
          <p:cNvPr id="167" name="Google Shape;167;p17"/>
          <p:cNvSpPr txBox="1"/>
          <p:nvPr/>
        </p:nvSpPr>
        <p:spPr>
          <a:xfrm>
            <a:off x="9389566" y="4231927"/>
            <a:ext cx="2030610" cy="66479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Times New Roman" panose="02020603050405020304" pitchFamily="18" charset="0"/>
                <a:ea typeface="Lato"/>
                <a:cs typeface="Times New Roman" panose="02020603050405020304" pitchFamily="18" charset="0"/>
                <a:sym typeface="Lato"/>
              </a:rPr>
              <a:t>Guaranteed anonymity and confidentiality.</a:t>
            </a:r>
            <a:endParaRPr>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7"/>
                                        </p:tgtEl>
                                        <p:attrNameLst>
                                          <p:attrName>style.visibility</p:attrName>
                                        </p:attrNameLst>
                                      </p:cBhvr>
                                      <p:to>
                                        <p:strVal val="visible"/>
                                      </p:to>
                                    </p:set>
                                    <p:animEffect transition="in" filter="wipe(left)">
                                      <p:cBhvr>
                                        <p:cTn id="7" dur="500"/>
                                        <p:tgtEl>
                                          <p:spTgt spid="15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9"/>
                                        </p:tgtEl>
                                        <p:attrNameLst>
                                          <p:attrName>style.visibility</p:attrName>
                                        </p:attrNameLst>
                                      </p:cBhvr>
                                      <p:to>
                                        <p:strVal val="visible"/>
                                      </p:to>
                                    </p:set>
                                    <p:animEffect transition="in" filter="wipe(left)">
                                      <p:cBhvr>
                                        <p:cTn id="10" dur="500"/>
                                        <p:tgtEl>
                                          <p:spTgt spid="159"/>
                                        </p:tgtEl>
                                      </p:cBhvr>
                                    </p:animEffect>
                                  </p:childTnLst>
                                </p:cTn>
                              </p:par>
                              <p:par>
                                <p:cTn id="11" presetID="22" presetClass="entr" presetSubtype="8" fill="hold" nodeType="withEffect">
                                  <p:stCondLst>
                                    <p:cond delay="0"/>
                                  </p:stCondLst>
                                  <p:childTnLst>
                                    <p:set>
                                      <p:cBhvr>
                                        <p:cTn id="12" dur="1" fill="hold">
                                          <p:stCondLst>
                                            <p:cond delay="0"/>
                                          </p:stCondLst>
                                        </p:cTn>
                                        <p:tgtEl>
                                          <p:spTgt spid="149"/>
                                        </p:tgtEl>
                                        <p:attrNameLst>
                                          <p:attrName>style.visibility</p:attrName>
                                        </p:attrNameLst>
                                      </p:cBhvr>
                                      <p:to>
                                        <p:strVal val="visible"/>
                                      </p:to>
                                    </p:set>
                                    <p:animEffect transition="in" filter="wipe(left)">
                                      <p:cBhvr>
                                        <p:cTn id="13" dur="500"/>
                                        <p:tgtEl>
                                          <p:spTgt spid="149"/>
                                        </p:tgtEl>
                                      </p:cBhvr>
                                    </p:animEffect>
                                  </p:childTnLst>
                                </p:cTn>
                              </p:par>
                              <p:par>
                                <p:cTn id="14" presetID="22" presetClass="entr" presetSubtype="8" fill="hold" nodeType="withEffect">
                                  <p:stCondLst>
                                    <p:cond delay="0"/>
                                  </p:stCondLst>
                                  <p:childTnLst>
                                    <p:set>
                                      <p:cBhvr>
                                        <p:cTn id="15" dur="1" fill="hold">
                                          <p:stCondLst>
                                            <p:cond delay="0"/>
                                          </p:stCondLst>
                                        </p:cTn>
                                        <p:tgtEl>
                                          <p:spTgt spid="151"/>
                                        </p:tgtEl>
                                        <p:attrNameLst>
                                          <p:attrName>style.visibility</p:attrName>
                                        </p:attrNameLst>
                                      </p:cBhvr>
                                      <p:to>
                                        <p:strVal val="visible"/>
                                      </p:to>
                                    </p:set>
                                    <p:animEffect transition="in" filter="wipe(left)">
                                      <p:cBhvr>
                                        <p:cTn id="16" dur="500"/>
                                        <p:tgtEl>
                                          <p:spTgt spid="151"/>
                                        </p:tgtEl>
                                      </p:cBhvr>
                                    </p:animEffect>
                                  </p:childTnLst>
                                </p:cTn>
                              </p:par>
                              <p:par>
                                <p:cTn id="17" presetID="22" presetClass="entr" presetSubtype="8" fill="hold" nodeType="withEffect">
                                  <p:stCondLst>
                                    <p:cond delay="0"/>
                                  </p:stCondLst>
                                  <p:childTnLst>
                                    <p:set>
                                      <p:cBhvr>
                                        <p:cTn id="18" dur="1" fill="hold">
                                          <p:stCondLst>
                                            <p:cond delay="0"/>
                                          </p:stCondLst>
                                        </p:cTn>
                                        <p:tgtEl>
                                          <p:spTgt spid="153"/>
                                        </p:tgtEl>
                                        <p:attrNameLst>
                                          <p:attrName>style.visibility</p:attrName>
                                        </p:attrNameLst>
                                      </p:cBhvr>
                                      <p:to>
                                        <p:strVal val="visible"/>
                                      </p:to>
                                    </p:set>
                                    <p:animEffect transition="in" filter="wipe(left)">
                                      <p:cBhvr>
                                        <p:cTn id="19" dur="500"/>
                                        <p:tgtEl>
                                          <p:spTgt spid="153"/>
                                        </p:tgtEl>
                                      </p:cBhvr>
                                    </p:animEffect>
                                  </p:childTnLst>
                                </p:cTn>
                              </p:par>
                              <p:par>
                                <p:cTn id="20" presetID="22" presetClass="entr" presetSubtype="8" fill="hold" nodeType="withEffect">
                                  <p:stCondLst>
                                    <p:cond delay="0"/>
                                  </p:stCondLst>
                                  <p:childTnLst>
                                    <p:set>
                                      <p:cBhvr>
                                        <p:cTn id="21" dur="1" fill="hold">
                                          <p:stCondLst>
                                            <p:cond delay="0"/>
                                          </p:stCondLst>
                                        </p:cTn>
                                        <p:tgtEl>
                                          <p:spTgt spid="155"/>
                                        </p:tgtEl>
                                        <p:attrNameLst>
                                          <p:attrName>style.visibility</p:attrName>
                                        </p:attrNameLst>
                                      </p:cBhvr>
                                      <p:to>
                                        <p:strVal val="visible"/>
                                      </p:to>
                                    </p:set>
                                    <p:animEffect transition="in" filter="wipe(left)">
                                      <p:cBhvr>
                                        <p:cTn id="22" dur="500"/>
                                        <p:tgtEl>
                                          <p:spTgt spid="1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50"/>
                                        </p:tgtEl>
                                        <p:attrNameLst>
                                          <p:attrName>style.visibility</p:attrName>
                                        </p:attrNameLst>
                                      </p:cBhvr>
                                      <p:to>
                                        <p:strVal val="visible"/>
                                      </p:to>
                                    </p:set>
                                    <p:animEffect transition="in" filter="wipe(down)">
                                      <p:cBhvr>
                                        <p:cTn id="27" dur="500"/>
                                        <p:tgtEl>
                                          <p:spTgt spid="150"/>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60"/>
                                        </p:tgtEl>
                                        <p:attrNameLst>
                                          <p:attrName>style.visibility</p:attrName>
                                        </p:attrNameLst>
                                      </p:cBhvr>
                                      <p:to>
                                        <p:strVal val="visible"/>
                                      </p:to>
                                    </p:set>
                                    <p:animEffect transition="in" filter="wipe(down)">
                                      <p:cBhvr>
                                        <p:cTn id="30" dur="500"/>
                                        <p:tgtEl>
                                          <p:spTgt spid="160"/>
                                        </p:tgtEl>
                                      </p:cBhvr>
                                    </p:animEffect>
                                  </p:childTnLst>
                                </p:cTn>
                              </p:par>
                              <p:par>
                                <p:cTn id="31" presetID="22" presetClass="entr" presetSubtype="4" fill="hold" nodeType="withEffect">
                                  <p:stCondLst>
                                    <p:cond delay="0"/>
                                  </p:stCondLst>
                                  <p:childTnLst>
                                    <p:set>
                                      <p:cBhvr>
                                        <p:cTn id="32" dur="1" fill="hold">
                                          <p:stCondLst>
                                            <p:cond delay="0"/>
                                          </p:stCondLst>
                                        </p:cTn>
                                        <p:tgtEl>
                                          <p:spTgt spid="152"/>
                                        </p:tgtEl>
                                        <p:attrNameLst>
                                          <p:attrName>style.visibility</p:attrName>
                                        </p:attrNameLst>
                                      </p:cBhvr>
                                      <p:to>
                                        <p:strVal val="visible"/>
                                      </p:to>
                                    </p:set>
                                    <p:animEffect transition="in" filter="wipe(down)">
                                      <p:cBhvr>
                                        <p:cTn id="33" dur="500"/>
                                        <p:tgtEl>
                                          <p:spTgt spid="152"/>
                                        </p:tgtEl>
                                      </p:cBhvr>
                                    </p:animEffect>
                                  </p:childTnLst>
                                </p:cTn>
                              </p:par>
                              <p:par>
                                <p:cTn id="34" presetID="22" presetClass="entr" presetSubtype="4" fill="hold" nodeType="withEffect">
                                  <p:stCondLst>
                                    <p:cond delay="0"/>
                                  </p:stCondLst>
                                  <p:childTnLst>
                                    <p:set>
                                      <p:cBhvr>
                                        <p:cTn id="35" dur="1" fill="hold">
                                          <p:stCondLst>
                                            <p:cond delay="0"/>
                                          </p:stCondLst>
                                        </p:cTn>
                                        <p:tgtEl>
                                          <p:spTgt spid="154"/>
                                        </p:tgtEl>
                                        <p:attrNameLst>
                                          <p:attrName>style.visibility</p:attrName>
                                        </p:attrNameLst>
                                      </p:cBhvr>
                                      <p:to>
                                        <p:strVal val="visible"/>
                                      </p:to>
                                    </p:set>
                                    <p:animEffect transition="in" filter="wipe(down)">
                                      <p:cBhvr>
                                        <p:cTn id="36" dur="500"/>
                                        <p:tgtEl>
                                          <p:spTgt spid="154"/>
                                        </p:tgtEl>
                                      </p:cBhvr>
                                    </p:animEffect>
                                  </p:childTnLst>
                                </p:cTn>
                              </p:par>
                              <p:par>
                                <p:cTn id="37" presetID="22" presetClass="entr" presetSubtype="4" fill="hold" nodeType="withEffect">
                                  <p:stCondLst>
                                    <p:cond delay="0"/>
                                  </p:stCondLst>
                                  <p:childTnLst>
                                    <p:set>
                                      <p:cBhvr>
                                        <p:cTn id="38" dur="1" fill="hold">
                                          <p:stCondLst>
                                            <p:cond delay="0"/>
                                          </p:stCondLst>
                                        </p:cTn>
                                        <p:tgtEl>
                                          <p:spTgt spid="156"/>
                                        </p:tgtEl>
                                        <p:attrNameLst>
                                          <p:attrName>style.visibility</p:attrName>
                                        </p:attrNameLst>
                                      </p:cBhvr>
                                      <p:to>
                                        <p:strVal val="visible"/>
                                      </p:to>
                                    </p:set>
                                    <p:animEffect transition="in" filter="wipe(down)">
                                      <p:cBhvr>
                                        <p:cTn id="39" dur="500"/>
                                        <p:tgtEl>
                                          <p:spTgt spid="156"/>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62"/>
                                        </p:tgtEl>
                                        <p:attrNameLst>
                                          <p:attrName>style.visibility</p:attrName>
                                        </p:attrNameLst>
                                      </p:cBhvr>
                                      <p:to>
                                        <p:strVal val="visible"/>
                                      </p:to>
                                    </p:set>
                                    <p:animEffect transition="in" filter="wipe(down)">
                                      <p:cBhvr>
                                        <p:cTn id="42" dur="500"/>
                                        <p:tgtEl>
                                          <p:spTgt spid="162"/>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64"/>
                                        </p:tgtEl>
                                        <p:attrNameLst>
                                          <p:attrName>style.visibility</p:attrName>
                                        </p:attrNameLst>
                                      </p:cBhvr>
                                      <p:to>
                                        <p:strVal val="visible"/>
                                      </p:to>
                                    </p:set>
                                    <p:animEffect transition="in" filter="wipe(down)">
                                      <p:cBhvr>
                                        <p:cTn id="45" dur="500"/>
                                        <p:tgtEl>
                                          <p:spTgt spid="164"/>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66"/>
                                        </p:tgtEl>
                                        <p:attrNameLst>
                                          <p:attrName>style.visibility</p:attrName>
                                        </p:attrNameLst>
                                      </p:cBhvr>
                                      <p:to>
                                        <p:strVal val="visible"/>
                                      </p:to>
                                    </p:set>
                                    <p:animEffect transition="in" filter="wipe(down)">
                                      <p:cBhvr>
                                        <p:cTn id="48" dur="500"/>
                                        <p:tgtEl>
                                          <p:spTgt spid="16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161"/>
                                        </p:tgtEl>
                                        <p:attrNameLst>
                                          <p:attrName>style.visibility</p:attrName>
                                        </p:attrNameLst>
                                      </p:cBhvr>
                                      <p:to>
                                        <p:strVal val="visible"/>
                                      </p:to>
                                    </p:set>
                                    <p:animEffect transition="in" filter="wipe(up)">
                                      <p:cBhvr>
                                        <p:cTn id="53" dur="500"/>
                                        <p:tgtEl>
                                          <p:spTgt spid="161"/>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163"/>
                                        </p:tgtEl>
                                        <p:attrNameLst>
                                          <p:attrName>style.visibility</p:attrName>
                                        </p:attrNameLst>
                                      </p:cBhvr>
                                      <p:to>
                                        <p:strVal val="visible"/>
                                      </p:to>
                                    </p:set>
                                    <p:animEffect transition="in" filter="wipe(up)">
                                      <p:cBhvr>
                                        <p:cTn id="56" dur="500"/>
                                        <p:tgtEl>
                                          <p:spTgt spid="163"/>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165"/>
                                        </p:tgtEl>
                                        <p:attrNameLst>
                                          <p:attrName>style.visibility</p:attrName>
                                        </p:attrNameLst>
                                      </p:cBhvr>
                                      <p:to>
                                        <p:strVal val="visible"/>
                                      </p:to>
                                    </p:set>
                                    <p:animEffect transition="in" filter="wipe(up)">
                                      <p:cBhvr>
                                        <p:cTn id="59" dur="500"/>
                                        <p:tgtEl>
                                          <p:spTgt spid="165"/>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167"/>
                                        </p:tgtEl>
                                        <p:attrNameLst>
                                          <p:attrName>style.visibility</p:attrName>
                                        </p:attrNameLst>
                                      </p:cBhvr>
                                      <p:to>
                                        <p:strVal val="visible"/>
                                      </p:to>
                                    </p:set>
                                    <p:animEffect transition="in" filter="wipe(up)">
                                      <p:cBhvr>
                                        <p:cTn id="62" dur="5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 grpId="0" animBg="1"/>
      <p:bldP spid="157" grpId="0"/>
      <p:bldP spid="160" grpId="0"/>
      <p:bldP spid="161" grpId="0"/>
      <p:bldP spid="162" grpId="0"/>
      <p:bldP spid="163" grpId="0"/>
      <p:bldP spid="164" grpId="0"/>
      <p:bldP spid="165" grpId="0"/>
      <p:bldP spid="166" grpId="0"/>
      <p:bldP spid="16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pic>
        <p:nvPicPr>
          <p:cNvPr id="172" name="Google Shape;172;p18" descr="image.png"/>
          <p:cNvPicPr preferRelativeResize="0"/>
          <p:nvPr/>
        </p:nvPicPr>
        <p:blipFill rotWithShape="1">
          <a:blip r:embed="rId3"/>
          <a:srcRect/>
          <a:stretch>
            <a:fillRect/>
          </a:stretch>
        </p:blipFill>
        <p:spPr>
          <a:xfrm>
            <a:off x="571500" y="1676400"/>
            <a:ext cx="11049000" cy="4610100"/>
          </a:xfrm>
          <a:prstGeom prst="rect">
            <a:avLst/>
          </a:prstGeom>
          <a:noFill/>
          <a:ln>
            <a:noFill/>
          </a:ln>
        </p:spPr>
      </p:pic>
      <p:pic>
        <p:nvPicPr>
          <p:cNvPr id="173" name="Google Shape;173;p18" descr="image.png"/>
          <p:cNvPicPr preferRelativeResize="0"/>
          <p:nvPr/>
        </p:nvPicPr>
        <p:blipFill rotWithShape="1">
          <a:blip r:embed="rId4"/>
          <a:srcRect/>
          <a:stretch>
            <a:fillRect/>
          </a:stretch>
        </p:blipFill>
        <p:spPr>
          <a:xfrm>
            <a:off x="571500" y="4482405"/>
            <a:ext cx="11049000" cy="998190"/>
          </a:xfrm>
          <a:prstGeom prst="rect">
            <a:avLst/>
          </a:prstGeom>
          <a:noFill/>
          <a:ln>
            <a:noFill/>
          </a:ln>
        </p:spPr>
      </p:pic>
      <p:sp>
        <p:nvSpPr>
          <p:cNvPr id="174" name="Google Shape;174;p18"/>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D9488"/>
                </a:solidFill>
                <a:latin typeface="Times New Roman" panose="02020603050405020304" pitchFamily="18" charset="0"/>
                <a:ea typeface="Poppins"/>
                <a:cs typeface="Times New Roman" panose="02020603050405020304" pitchFamily="18" charset="0"/>
                <a:sym typeface="Poppins"/>
              </a:rPr>
              <a:t>Analysis &amp; Results</a:t>
            </a:r>
            <a:endParaRPr dirty="0">
              <a:latin typeface="Times New Roman" panose="02020603050405020304" pitchFamily="18" charset="0"/>
              <a:cs typeface="Times New Roman" panose="02020603050405020304" pitchFamily="18" charset="0"/>
            </a:endParaRPr>
          </a:p>
        </p:txBody>
      </p:sp>
      <p:sp>
        <p:nvSpPr>
          <p:cNvPr id="175" name="Google Shape;175;p18"/>
          <p:cNvSpPr/>
          <p:nvPr/>
        </p:nvSpPr>
        <p:spPr>
          <a:xfrm>
            <a:off x="571500" y="1266825"/>
            <a:ext cx="11049000" cy="28575"/>
          </a:xfrm>
          <a:prstGeom prst="rect">
            <a:avLst/>
          </a:prstGeom>
          <a:solidFill>
            <a:srgbClr val="CCFB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76" name="Google Shape;176;p18"/>
          <p:cNvSpPr txBox="1"/>
          <p:nvPr/>
        </p:nvSpPr>
        <p:spPr>
          <a:xfrm>
            <a:off x="762000" y="4844355"/>
            <a:ext cx="10668000" cy="332399"/>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1"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Key Insight:</a:t>
            </a:r>
            <a:r>
              <a:rPr lang="en-US" sz="1350" b="0" i="0" u="none" strike="noStrike" cap="none" dirty="0">
                <a:solidFill>
                  <a:srgbClr val="475569"/>
                </a:solidFill>
                <a:latin typeface="Times New Roman" panose="02020603050405020304" pitchFamily="18" charset="0"/>
                <a:ea typeface="Lato"/>
                <a:cs typeface="Times New Roman" panose="02020603050405020304" pitchFamily="18" charset="0"/>
                <a:sym typeface="Lato"/>
              </a:rPr>
              <a:t> Most respondents consider the issue "Serious". Common forms include online harassment, fake accounts, and insulting messages.</a:t>
            </a:r>
            <a:endParaRPr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wipe(left)">
                                      <p:cBhvr>
                                        <p:cTn id="7" dur="500"/>
                                        <p:tgtEl>
                                          <p:spTgt spid="1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6"/>
                                        </p:tgtEl>
                                        <p:attrNameLst>
                                          <p:attrName>style.visibility</p:attrName>
                                        </p:attrNameLst>
                                      </p:cBhvr>
                                      <p:to>
                                        <p:strVal val="visible"/>
                                      </p:to>
                                    </p:set>
                                    <p:animEffect transition="in" filter="wipe(left)">
                                      <p:cBhvr>
                                        <p:cTn id="12" dur="500"/>
                                        <p:tgtEl>
                                          <p:spTgt spid="176"/>
                                        </p:tgtEl>
                                      </p:cBhvr>
                                    </p:animEffect>
                                  </p:childTnLst>
                                </p:cTn>
                              </p:par>
                              <p:par>
                                <p:cTn id="13" presetID="22" presetClass="entr" presetSubtype="8" fill="hold" nodeType="withEffect">
                                  <p:stCondLst>
                                    <p:cond delay="0"/>
                                  </p:stCondLst>
                                  <p:childTnLst>
                                    <p:set>
                                      <p:cBhvr>
                                        <p:cTn id="14" dur="1" fill="hold">
                                          <p:stCondLst>
                                            <p:cond delay="0"/>
                                          </p:stCondLst>
                                        </p:cTn>
                                        <p:tgtEl>
                                          <p:spTgt spid="172"/>
                                        </p:tgtEl>
                                        <p:attrNameLst>
                                          <p:attrName>style.visibility</p:attrName>
                                        </p:attrNameLst>
                                      </p:cBhvr>
                                      <p:to>
                                        <p:strVal val="visible"/>
                                      </p:to>
                                    </p:set>
                                    <p:animEffect transition="in" filter="wipe(left)">
                                      <p:cBhvr>
                                        <p:cTn id="15" dur="5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p:bldP spid="1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3.png"/>
          <p:cNvPicPr preferRelativeResize="0"/>
          <p:nvPr/>
        </p:nvPicPr>
        <p:blipFill>
          <a:blip r:embed="rId2"/>
          <a:srcRect r="-1494" b="4827"/>
          <a:stretch>
            <a:fillRect/>
          </a:stretch>
        </p:blipFill>
        <p:spPr>
          <a:xfrm>
            <a:off x="603250" y="581660"/>
            <a:ext cx="4024630" cy="2178050"/>
          </a:xfrm>
          <a:prstGeom prst="rect">
            <a:avLst/>
          </a:prstGeom>
        </p:spPr>
      </p:pic>
      <p:sp>
        <p:nvSpPr>
          <p:cNvPr id="3" name="Text Box 2"/>
          <p:cNvSpPr txBox="1"/>
          <p:nvPr/>
        </p:nvSpPr>
        <p:spPr>
          <a:xfrm>
            <a:off x="762635" y="3178810"/>
            <a:ext cx="4341495" cy="1565275"/>
          </a:xfrm>
          <a:prstGeom prst="rect">
            <a:avLst/>
          </a:prstGeom>
          <a:noFill/>
        </p:spPr>
        <p:txBody>
          <a:bodyPr wrap="square" rtlCol="0">
            <a:noAutofit/>
          </a:bodyPr>
          <a:lstStyle/>
          <a:p>
            <a:pPr algn="just">
              <a:lnSpc>
                <a:spcPct val="90000"/>
              </a:lnSpc>
            </a:pPr>
            <a:r>
              <a:rPr lang="en-US" altLang="en-GB">
                <a:solidFill>
                  <a:srgbClr val="FF0000"/>
                </a:solidFill>
                <a:latin typeface="Times New Roman" panose="02020603050405020304" pitchFamily="18" charset="0"/>
                <a:cs typeface="Times New Roman" panose="02020603050405020304" pitchFamily="18" charset="0"/>
              </a:rPr>
              <a:t>Figure 1: illustrated students’ opinions on the need for an AI-based reporting system. The results showed that online harassment was the main concern, followed by fake accounts and insulting messages, while public shaming occurred less often. These findings indicated strong student support for technology-based reporting systems.</a:t>
            </a:r>
          </a:p>
        </p:txBody>
      </p:sp>
      <p:sp>
        <p:nvSpPr>
          <p:cNvPr id="5" name="Text Box 4"/>
          <p:cNvSpPr txBox="1"/>
          <p:nvPr/>
        </p:nvSpPr>
        <p:spPr>
          <a:xfrm>
            <a:off x="1040130" y="2901315"/>
            <a:ext cx="4064000" cy="306705"/>
          </a:xfrm>
          <a:prstGeom prst="rect">
            <a:avLst/>
          </a:prstGeom>
          <a:noFill/>
        </p:spPr>
        <p:txBody>
          <a:bodyPr wrap="square" rtlCol="0">
            <a:spAutoFit/>
          </a:bodyPr>
          <a:lstStyle/>
          <a:p>
            <a:r>
              <a:rPr lang="en-US" altLang="en-GB"/>
              <a:t>Fig-1:</a:t>
            </a:r>
            <a:r>
              <a:rPr lang="en-US" altLang="en-GB">
                <a:solidFill>
                  <a:srgbClr val="FF0000"/>
                </a:solidFill>
              </a:rPr>
              <a:t> AI based reporting system</a:t>
            </a:r>
          </a:p>
        </p:txBody>
      </p:sp>
      <p:sp>
        <p:nvSpPr>
          <p:cNvPr id="6" name="Text Box 5"/>
          <p:cNvSpPr txBox="1"/>
          <p:nvPr/>
        </p:nvSpPr>
        <p:spPr>
          <a:xfrm>
            <a:off x="1083945" y="5817235"/>
            <a:ext cx="4064000" cy="306705"/>
          </a:xfrm>
          <a:prstGeom prst="rect">
            <a:avLst/>
          </a:prstGeom>
          <a:noFill/>
        </p:spPr>
        <p:txBody>
          <a:bodyPr wrap="square" rtlCol="0">
            <a:spAutoFit/>
          </a:bodyPr>
          <a:lstStyle/>
          <a:p>
            <a:r>
              <a:rPr lang="en-US" altLang="en-GB"/>
              <a:t>Fig-2:  How concern about cyber-bullying</a:t>
            </a:r>
          </a:p>
        </p:txBody>
      </p:sp>
      <p:pic>
        <p:nvPicPr>
          <p:cNvPr id="14" name="image2.png" descr="Forms response chart. Question title: 5.How serious do you believe the cyberbullying issue is at AIUB?. Number of responses: 23 responses."/>
          <p:cNvPicPr preferRelativeResize="0"/>
          <p:nvPr/>
        </p:nvPicPr>
        <p:blipFill>
          <a:blip r:embed="rId3"/>
          <a:srcRect l="-597" t="26565" r="18904" b="9675"/>
          <a:stretch>
            <a:fillRect/>
          </a:stretch>
        </p:blipFill>
        <p:spPr>
          <a:xfrm>
            <a:off x="896620" y="4482465"/>
            <a:ext cx="3452495" cy="1334135"/>
          </a:xfrm>
          <a:prstGeom prst="rect">
            <a:avLst/>
          </a:prstGeom>
        </p:spPr>
      </p:pic>
      <p:sp>
        <p:nvSpPr>
          <p:cNvPr id="7" name="Text Box 6"/>
          <p:cNvSpPr txBox="1"/>
          <p:nvPr/>
        </p:nvSpPr>
        <p:spPr>
          <a:xfrm>
            <a:off x="6564630" y="673735"/>
            <a:ext cx="4064000" cy="1960880"/>
          </a:xfrm>
          <a:prstGeom prst="rect">
            <a:avLst/>
          </a:prstGeom>
          <a:noFill/>
        </p:spPr>
        <p:txBody>
          <a:bodyPr wrap="square" rtlCol="0">
            <a:spAutoFit/>
          </a:bodyPr>
          <a:lstStyle/>
          <a:p>
            <a:pPr algn="just"/>
            <a:r>
              <a:rPr lang="en-US" altLang="en-GB" sz="1350">
                <a:solidFill>
                  <a:srgbClr val="FF0000"/>
                </a:solidFill>
                <a:latin typeface="Times New Roman" panose="02020603050405020304" pitchFamily="18" charset="0"/>
                <a:cs typeface="Times New Roman" panose="02020603050405020304" pitchFamily="18" charset="0"/>
              </a:rPr>
              <a:t>Figure 2 displayed students’ perceptions of cyberbullying. Most respondents considered cyberbullying a serious issue, showing awareness of its negative impact on students’ well-being and academic communication.Overall, the results demonstrated that cyberbullying was a common concern among AIUB students and highlighted the need for effective preventive and reporting systems to reduce cyberbullying on campus.</a:t>
            </a:r>
          </a:p>
        </p:txBody>
      </p:sp>
      <p:pic>
        <p:nvPicPr>
          <p:cNvPr id="38" name="image1.png" descr="Forms response chart. Question title: . Number of responses: 23 responses."/>
          <p:cNvPicPr preferRelativeResize="0"/>
          <p:nvPr/>
        </p:nvPicPr>
        <p:blipFill>
          <a:blip r:embed="rId4"/>
          <a:srcRect l="-78" t="18404" r="1198" b="10866"/>
          <a:stretch>
            <a:fillRect/>
          </a:stretch>
        </p:blipFill>
        <p:spPr>
          <a:xfrm>
            <a:off x="6456045" y="2759710"/>
            <a:ext cx="5286375" cy="1985010"/>
          </a:xfrm>
          <a:prstGeom prst="rect">
            <a:avLst/>
          </a:prstGeom>
        </p:spPr>
      </p:pic>
      <p:sp>
        <p:nvSpPr>
          <p:cNvPr id="8" name="Text Box 7"/>
          <p:cNvSpPr txBox="1"/>
          <p:nvPr/>
        </p:nvSpPr>
        <p:spPr>
          <a:xfrm>
            <a:off x="6823075" y="4835525"/>
            <a:ext cx="4064000" cy="306705"/>
          </a:xfrm>
          <a:prstGeom prst="rect">
            <a:avLst/>
          </a:prstGeom>
          <a:noFill/>
        </p:spPr>
        <p:txBody>
          <a:bodyPr wrap="square" rtlCol="0">
            <a:spAutoFit/>
          </a:bodyPr>
          <a:lstStyle/>
          <a:p>
            <a:r>
              <a:rPr lang="en-US" altLang="en-GB"/>
              <a:t>Fig-3: Student communicate with AIUB</a:t>
            </a:r>
          </a:p>
        </p:txBody>
      </p:sp>
      <p:sp>
        <p:nvSpPr>
          <p:cNvPr id="9" name="Text Box 8"/>
          <p:cNvSpPr txBox="1"/>
          <p:nvPr/>
        </p:nvSpPr>
        <p:spPr>
          <a:xfrm>
            <a:off x="6706235" y="5260340"/>
            <a:ext cx="4064000" cy="1168400"/>
          </a:xfrm>
          <a:prstGeom prst="rect">
            <a:avLst/>
          </a:prstGeom>
          <a:noFill/>
        </p:spPr>
        <p:txBody>
          <a:bodyPr wrap="square" rtlCol="0">
            <a:spAutoFit/>
          </a:bodyPr>
          <a:lstStyle/>
          <a:p>
            <a:pPr algn="just"/>
            <a:r>
              <a:rPr lang="en-US" altLang="en-GB">
                <a:solidFill>
                  <a:srgbClr val="FF0000"/>
                </a:solidFill>
              </a:rPr>
              <a:t>Figure 3 showed that 82.6%  students used online communication daily, highlighting the strong role of digital platforms in students’ academic and social interactions. This frequent use increased exposure  negative online.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in)">
                                      <p:cBhvr>
                                        <p:cTn id="7" dur="2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ox(in)">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in)">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ox(in)">
                                      <p:cBhvr>
                                        <p:cTn id="22" dur="2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box(in)">
                                      <p:cBhvr>
                                        <p:cTn id="27" dur="20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ox(in)">
                                      <p:cBhvr>
                                        <p:cTn id="32"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7" grpId="0"/>
      <p:bldP spid="7" grpId="1"/>
      <p:bldP spid="9" grpId="0"/>
      <p:bldP spid="9"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0"/>
        <p:cNvGrpSpPr/>
        <p:nvPr/>
      </p:nvGrpSpPr>
      <p:grpSpPr>
        <a:xfrm>
          <a:off x="0" y="0"/>
          <a:ext cx="0" cy="0"/>
          <a:chOff x="0" y="0"/>
          <a:chExt cx="0" cy="0"/>
        </a:xfrm>
      </p:grpSpPr>
      <p:sp>
        <p:nvSpPr>
          <p:cNvPr id="182" name="Google Shape;182;p19"/>
          <p:cNvSpPr/>
          <p:nvPr/>
        </p:nvSpPr>
        <p:spPr>
          <a:xfrm>
            <a:off x="571500" y="1266825"/>
            <a:ext cx="11049000" cy="28575"/>
          </a:xfrm>
          <a:prstGeom prst="rect">
            <a:avLst/>
          </a:prstGeom>
          <a:solidFill>
            <a:srgbClr val="CCFB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83" name="Google Shape;183;p19"/>
          <p:cNvSpPr txBox="1"/>
          <p:nvPr/>
        </p:nvSpPr>
        <p:spPr>
          <a:xfrm>
            <a:off x="952500" y="2981325"/>
            <a:ext cx="4219575" cy="323165"/>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2100" b="0" i="1" u="none" strike="noStrike" cap="none" dirty="0">
                <a:solidFill>
                  <a:srgbClr val="0D9488"/>
                </a:solidFill>
                <a:latin typeface="Times New Roman" panose="02020603050405020304" pitchFamily="18" charset="0"/>
                <a:ea typeface="Poppins"/>
                <a:cs typeface="Times New Roman" panose="02020603050405020304" pitchFamily="18" charset="0"/>
                <a:sym typeface="Poppins"/>
              </a:rPr>
              <a:t> </a:t>
            </a:r>
            <a:endParaRPr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673735" y="469900"/>
            <a:ext cx="3810000" cy="1106805"/>
          </a:xfrm>
          <a:prstGeom prst="rect">
            <a:avLst/>
          </a:prstGeom>
          <a:noFill/>
        </p:spPr>
        <p:txBody>
          <a:bodyPr wrap="square" rtlCol="0">
            <a:spAutoFit/>
          </a:bodyPr>
          <a:lstStyle/>
          <a:p>
            <a:r>
              <a:rPr lang="en-US" sz="3300" b="1" dirty="0">
                <a:solidFill>
                  <a:srgbClr val="0D9488"/>
                </a:solidFill>
                <a:latin typeface="Times New Roman" panose="02020603050405020304" pitchFamily="18" charset="0"/>
                <a:ea typeface="Poppins"/>
                <a:cs typeface="Times New Roman" panose="02020603050405020304" pitchFamily="18" charset="0"/>
                <a:sym typeface="Poppins"/>
              </a:rPr>
              <a:t>Discussion:</a:t>
            </a:r>
            <a:endParaRPr sz="3300" dirty="0">
              <a:latin typeface="Times New Roman" panose="02020603050405020304" pitchFamily="18" charset="0"/>
              <a:cs typeface="Times New Roman" panose="02020603050405020304" pitchFamily="18" charset="0"/>
            </a:endParaRPr>
          </a:p>
          <a:p>
            <a:endParaRPr lang="en-GB" altLang="en-US" sz="3300"/>
          </a:p>
        </p:txBody>
      </p:sp>
      <p:pic>
        <p:nvPicPr>
          <p:cNvPr id="3" name="Picture 2" descr="image 1"/>
          <p:cNvPicPr>
            <a:picLocks noChangeAspect="1"/>
          </p:cNvPicPr>
          <p:nvPr/>
        </p:nvPicPr>
        <p:blipFill>
          <a:blip r:embed="rId7"/>
          <a:stretch>
            <a:fillRect/>
          </a:stretch>
        </p:blipFill>
        <p:spPr>
          <a:xfrm>
            <a:off x="7275195" y="1295400"/>
            <a:ext cx="4345305" cy="3394075"/>
          </a:xfrm>
          <a:prstGeom prst="rect">
            <a:avLst/>
          </a:prstGeom>
        </p:spPr>
      </p:pic>
      <p:pic>
        <p:nvPicPr>
          <p:cNvPr id="189" name="Google Shape;189;p19" descr="image.png"/>
          <p:cNvPicPr preferRelativeResize="0"/>
          <p:nvPr>
            <p:custDataLst>
              <p:tags r:id="rId1"/>
            </p:custDataLst>
          </p:nvPr>
        </p:nvPicPr>
        <p:blipFill rotWithShape="1">
          <a:blip r:embed="rId8"/>
          <a:srcRect/>
          <a:stretch>
            <a:fillRect/>
          </a:stretch>
        </p:blipFill>
        <p:spPr>
          <a:xfrm>
            <a:off x="752475" y="2181225"/>
            <a:ext cx="200025" cy="195580"/>
          </a:xfrm>
          <a:prstGeom prst="rect">
            <a:avLst/>
          </a:prstGeom>
          <a:noFill/>
          <a:ln>
            <a:noFill/>
          </a:ln>
        </p:spPr>
      </p:pic>
      <p:sp>
        <p:nvSpPr>
          <p:cNvPr id="5" name="Text Box 4"/>
          <p:cNvSpPr txBox="1"/>
          <p:nvPr/>
        </p:nvSpPr>
        <p:spPr>
          <a:xfrm>
            <a:off x="1090930" y="1964690"/>
            <a:ext cx="5036185" cy="598805"/>
          </a:xfrm>
          <a:prstGeom prst="rect">
            <a:avLst/>
          </a:prstGeom>
          <a:noFill/>
        </p:spPr>
        <p:txBody>
          <a:bodyPr wrap="square" rtlCol="0">
            <a:spAutoFit/>
          </a:bodyPr>
          <a:lstStyle/>
          <a:p>
            <a:r>
              <a:rPr lang="en-US" altLang="en-GB" sz="3300">
                <a:solidFill>
                  <a:srgbClr val="FF0000"/>
                </a:solidFill>
                <a:latin typeface="Times New Roman" panose="02020603050405020304" pitchFamily="18" charset="0"/>
                <a:cs typeface="Times New Roman" panose="02020603050405020304" pitchFamily="18" charset="0"/>
              </a:rPr>
              <a:t>Online Communicaton</a:t>
            </a:r>
          </a:p>
        </p:txBody>
      </p:sp>
      <p:pic>
        <p:nvPicPr>
          <p:cNvPr id="8" name="Google Shape;189;p19" descr="image.png"/>
          <p:cNvPicPr preferRelativeResize="0"/>
          <p:nvPr>
            <p:custDataLst>
              <p:tags r:id="rId2"/>
            </p:custDataLst>
          </p:nvPr>
        </p:nvPicPr>
        <p:blipFill rotWithShape="1">
          <a:blip r:embed="rId8"/>
          <a:srcRect/>
          <a:stretch>
            <a:fillRect/>
          </a:stretch>
        </p:blipFill>
        <p:spPr>
          <a:xfrm>
            <a:off x="752475" y="2785745"/>
            <a:ext cx="200025" cy="195580"/>
          </a:xfrm>
          <a:prstGeom prst="rect">
            <a:avLst/>
          </a:prstGeom>
          <a:noFill/>
          <a:ln>
            <a:noFill/>
          </a:ln>
        </p:spPr>
      </p:pic>
      <p:sp>
        <p:nvSpPr>
          <p:cNvPr id="10" name="Text Box 9"/>
          <p:cNvSpPr txBox="1"/>
          <p:nvPr/>
        </p:nvSpPr>
        <p:spPr>
          <a:xfrm>
            <a:off x="1090930" y="2684780"/>
            <a:ext cx="7360285" cy="1106805"/>
          </a:xfrm>
          <a:prstGeom prst="rect">
            <a:avLst/>
          </a:prstGeom>
          <a:noFill/>
        </p:spPr>
        <p:txBody>
          <a:bodyPr wrap="square" rtlCol="0">
            <a:spAutoFit/>
          </a:bodyPr>
          <a:lstStyle/>
          <a:p>
            <a:r>
              <a:rPr lang="en-US" altLang="en-GB" sz="3300">
                <a:solidFill>
                  <a:srgbClr val="FF0000"/>
                </a:solidFill>
                <a:latin typeface="Times New Roman" panose="02020603050405020304" pitchFamily="18" charset="0"/>
                <a:cs typeface="Times New Roman" panose="02020603050405020304" pitchFamily="18" charset="0"/>
              </a:rPr>
              <a:t>52.2% responders experienced online harasment</a:t>
            </a:r>
          </a:p>
        </p:txBody>
      </p:sp>
      <p:pic>
        <p:nvPicPr>
          <p:cNvPr id="11" name="Picture 10"/>
          <p:cNvPicPr/>
          <p:nvPr/>
        </p:nvPicPr>
        <p:blipFill>
          <a:blip r:embed="rId9"/>
          <a:stretch>
            <a:fillRect/>
          </a:stretch>
        </p:blipFill>
        <p:spPr>
          <a:xfrm>
            <a:off x="752475" y="3804920"/>
            <a:ext cx="5711190" cy="2675255"/>
          </a:xfrm>
          <a:prstGeom prst="rect">
            <a:avLst/>
          </a:prstGeom>
        </p:spPr>
      </p:pic>
      <p:pic>
        <p:nvPicPr>
          <p:cNvPr id="13" name="Google Shape;189;p19" descr="image.png"/>
          <p:cNvPicPr preferRelativeResize="0"/>
          <p:nvPr>
            <p:custDataLst>
              <p:tags r:id="rId3"/>
            </p:custDataLst>
          </p:nvPr>
        </p:nvPicPr>
        <p:blipFill rotWithShape="1">
          <a:blip r:embed="rId8"/>
          <a:srcRect/>
          <a:stretch>
            <a:fillRect/>
          </a:stretch>
        </p:blipFill>
        <p:spPr>
          <a:xfrm>
            <a:off x="6811645" y="4899660"/>
            <a:ext cx="200025" cy="195580"/>
          </a:xfrm>
          <a:prstGeom prst="rect">
            <a:avLst/>
          </a:prstGeom>
          <a:noFill/>
          <a:ln>
            <a:noFill/>
          </a:ln>
        </p:spPr>
      </p:pic>
      <p:sp>
        <p:nvSpPr>
          <p:cNvPr id="15" name="Text Box 14"/>
          <p:cNvSpPr txBox="1"/>
          <p:nvPr/>
        </p:nvSpPr>
        <p:spPr>
          <a:xfrm>
            <a:off x="7011670" y="4689475"/>
            <a:ext cx="4834890" cy="598805"/>
          </a:xfrm>
          <a:prstGeom prst="rect">
            <a:avLst/>
          </a:prstGeom>
          <a:noFill/>
        </p:spPr>
        <p:txBody>
          <a:bodyPr wrap="square" rtlCol="0">
            <a:spAutoFit/>
          </a:bodyPr>
          <a:lstStyle/>
          <a:p>
            <a:r>
              <a:rPr lang="en-US" altLang="en-GB" sz="3300">
                <a:solidFill>
                  <a:srgbClr val="FF0000"/>
                </a:solidFill>
                <a:latin typeface="Times New Roman" panose="02020603050405020304" pitchFamily="18" charset="0"/>
                <a:cs typeface="Times New Roman" panose="02020603050405020304" pitchFamily="18" charset="0"/>
              </a:rPr>
              <a:t>Mental health</a:t>
            </a:r>
          </a:p>
        </p:txBody>
      </p:sp>
      <p:pic>
        <p:nvPicPr>
          <p:cNvPr id="19" name="Google Shape;189;p19" descr="image.png"/>
          <p:cNvPicPr preferRelativeResize="0"/>
          <p:nvPr>
            <p:custDataLst>
              <p:tags r:id="rId4"/>
            </p:custDataLst>
          </p:nvPr>
        </p:nvPicPr>
        <p:blipFill rotWithShape="1">
          <a:blip r:embed="rId8"/>
          <a:srcRect/>
          <a:stretch>
            <a:fillRect/>
          </a:stretch>
        </p:blipFill>
        <p:spPr>
          <a:xfrm>
            <a:off x="6811645" y="5488305"/>
            <a:ext cx="200025" cy="195580"/>
          </a:xfrm>
          <a:prstGeom prst="rect">
            <a:avLst/>
          </a:prstGeom>
          <a:noFill/>
          <a:ln>
            <a:noFill/>
          </a:ln>
        </p:spPr>
      </p:pic>
      <p:sp>
        <p:nvSpPr>
          <p:cNvPr id="20" name="Text Box 19"/>
          <p:cNvSpPr txBox="1"/>
          <p:nvPr/>
        </p:nvSpPr>
        <p:spPr>
          <a:xfrm>
            <a:off x="7011670" y="5180965"/>
            <a:ext cx="4084320" cy="1106805"/>
          </a:xfrm>
          <a:prstGeom prst="rect">
            <a:avLst/>
          </a:prstGeom>
          <a:noFill/>
        </p:spPr>
        <p:txBody>
          <a:bodyPr wrap="square" rtlCol="0">
            <a:spAutoFit/>
          </a:bodyPr>
          <a:lstStyle/>
          <a:p>
            <a:r>
              <a:rPr lang="en-US" altLang="en-GB" sz="3300">
                <a:solidFill>
                  <a:srgbClr val="FF0000"/>
                </a:solidFill>
                <a:latin typeface="Times New Roman" panose="02020603050405020304" pitchFamily="18" charset="0"/>
                <a:cs typeface="Times New Roman" panose="02020603050405020304" pitchFamily="18" charset="0"/>
              </a:rPr>
              <a:t>Effect on aceademic performance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wipe(up)">
                                      <p:cBhvr>
                                        <p:cTn id="7" dur="500"/>
                                        <p:tgtEl>
                                          <p:spTgt spid="18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ox(in)">
                                      <p:cBhvr>
                                        <p:cTn id="22" dur="20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ircle(in)">
                                      <p:cBhvr>
                                        <p:cTn id="27" dur="2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circle(in)">
                                      <p:cBhvr>
                                        <p:cTn id="32" dur="2000"/>
                                        <p:tgtEl>
                                          <p:spTgt spid="1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0">
                                            <p:txEl>
                                              <p:pRg st="0" end="0"/>
                                            </p:txEl>
                                          </p:spTgt>
                                        </p:tgtEl>
                                        <p:attrNameLst>
                                          <p:attrName>style.visibility</p:attrName>
                                        </p:attrNameLst>
                                      </p:cBhvr>
                                      <p:to>
                                        <p:strVal val="visible"/>
                                      </p:to>
                                    </p:set>
                                    <p:animEffect transition="in" filter="box(in)">
                                      <p:cBhvr>
                                        <p:cTn id="37" dur="20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p:bldP spid="5" grpId="0"/>
      <p:bldP spid="5" grpId="1"/>
      <p:bldP spid="10" grpId="0"/>
      <p:bldP spid="10"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4"/>
          <a:stretch>
            <a:fillRect/>
          </a:stretch>
        </p:blipFill>
        <p:spPr>
          <a:xfrm>
            <a:off x="546100" y="809625"/>
            <a:ext cx="3674745" cy="2345690"/>
          </a:xfrm>
          <a:prstGeom prst="rect">
            <a:avLst/>
          </a:prstGeom>
        </p:spPr>
      </p:pic>
      <p:sp>
        <p:nvSpPr>
          <p:cNvPr id="4" name="Text Box 3"/>
          <p:cNvSpPr txBox="1"/>
          <p:nvPr/>
        </p:nvSpPr>
        <p:spPr>
          <a:xfrm>
            <a:off x="452755" y="3152140"/>
            <a:ext cx="5209540" cy="553085"/>
          </a:xfrm>
          <a:prstGeom prst="rect">
            <a:avLst/>
          </a:prstGeom>
          <a:noFill/>
        </p:spPr>
        <p:txBody>
          <a:bodyPr wrap="square" rtlCol="0">
            <a:spAutoFit/>
          </a:bodyPr>
          <a:lstStyle/>
          <a:p>
            <a:r>
              <a:rPr lang="en-US" altLang="en-GB" sz="3000">
                <a:solidFill>
                  <a:srgbClr val="FF0000"/>
                </a:solidFill>
                <a:latin typeface="Times New Roman" panose="02020603050405020304" pitchFamily="18" charset="0"/>
                <a:cs typeface="Times New Roman" panose="02020603050405020304" pitchFamily="18" charset="0"/>
              </a:rPr>
              <a:t>App based reporting system</a:t>
            </a:r>
          </a:p>
        </p:txBody>
      </p:sp>
      <p:pic>
        <p:nvPicPr>
          <p:cNvPr id="8" name="Google Shape;189;p19" descr="image.png"/>
          <p:cNvPicPr preferRelativeResize="0"/>
          <p:nvPr>
            <p:custDataLst>
              <p:tags r:id="rId1"/>
            </p:custDataLst>
          </p:nvPr>
        </p:nvPicPr>
        <p:blipFill rotWithShape="1">
          <a:blip r:embed="rId5"/>
          <a:srcRect/>
          <a:stretch>
            <a:fillRect/>
          </a:stretch>
        </p:blipFill>
        <p:spPr>
          <a:xfrm>
            <a:off x="261620" y="3233420"/>
            <a:ext cx="200025" cy="195580"/>
          </a:xfrm>
          <a:prstGeom prst="rect">
            <a:avLst/>
          </a:prstGeom>
          <a:noFill/>
          <a:ln>
            <a:noFill/>
          </a:ln>
        </p:spPr>
      </p:pic>
      <p:pic>
        <p:nvPicPr>
          <p:cNvPr id="5" name="Picture 4"/>
          <p:cNvPicPr/>
          <p:nvPr/>
        </p:nvPicPr>
        <p:blipFill>
          <a:blip r:embed="rId6"/>
          <a:stretch>
            <a:fillRect/>
          </a:stretch>
        </p:blipFill>
        <p:spPr>
          <a:xfrm>
            <a:off x="5662295" y="368300"/>
            <a:ext cx="5758815" cy="3228975"/>
          </a:xfrm>
          <a:prstGeom prst="rect">
            <a:avLst/>
          </a:prstGeom>
        </p:spPr>
      </p:pic>
      <p:pic>
        <p:nvPicPr>
          <p:cNvPr id="6" name="Picture 5"/>
          <p:cNvPicPr/>
          <p:nvPr/>
        </p:nvPicPr>
        <p:blipFill>
          <a:blip r:embed="rId7"/>
          <a:stretch>
            <a:fillRect/>
          </a:stretch>
        </p:blipFill>
        <p:spPr>
          <a:xfrm>
            <a:off x="1924685" y="3848100"/>
            <a:ext cx="4529455" cy="3010535"/>
          </a:xfrm>
          <a:prstGeom prst="rect">
            <a:avLst/>
          </a:prstGeom>
        </p:spPr>
      </p:pic>
      <p:pic>
        <p:nvPicPr>
          <p:cNvPr id="7" name="Google Shape;189;p19" descr="image.png"/>
          <p:cNvPicPr preferRelativeResize="0"/>
          <p:nvPr>
            <p:custDataLst>
              <p:tags r:id="rId2"/>
            </p:custDataLst>
          </p:nvPr>
        </p:nvPicPr>
        <p:blipFill rotWithShape="1">
          <a:blip r:embed="rId5"/>
          <a:srcRect/>
          <a:stretch>
            <a:fillRect/>
          </a:stretch>
        </p:blipFill>
        <p:spPr>
          <a:xfrm>
            <a:off x="6876415" y="4601845"/>
            <a:ext cx="200025" cy="195580"/>
          </a:xfrm>
          <a:prstGeom prst="rect">
            <a:avLst/>
          </a:prstGeom>
          <a:noFill/>
          <a:ln>
            <a:noFill/>
          </a:ln>
        </p:spPr>
      </p:pic>
      <p:sp>
        <p:nvSpPr>
          <p:cNvPr id="10" name="Text Box 9"/>
          <p:cNvSpPr txBox="1"/>
          <p:nvPr/>
        </p:nvSpPr>
        <p:spPr>
          <a:xfrm>
            <a:off x="7076440" y="4436110"/>
            <a:ext cx="4699000" cy="898525"/>
          </a:xfrm>
          <a:prstGeom prst="rect">
            <a:avLst/>
          </a:prstGeom>
          <a:noFill/>
        </p:spPr>
        <p:txBody>
          <a:bodyPr wrap="square" rtlCol="0">
            <a:noAutofit/>
          </a:bodyPr>
          <a:lstStyle/>
          <a:p>
            <a:r>
              <a:rPr lang="en-US" altLang="en-GB" sz="3000">
                <a:solidFill>
                  <a:srgbClr val="FF0000"/>
                </a:solidFill>
                <a:latin typeface="Times New Roman" panose="02020603050405020304" pitchFamily="18" charset="0"/>
                <a:cs typeface="Times New Roman" panose="02020603050405020304" pitchFamily="18" charset="0"/>
              </a:rPr>
              <a:t>Clear university policy with zero talarancy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circle(in)">
                                      <p:cBhvr>
                                        <p:cTn id="12" dur="20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2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box(in)">
                                      <p:cBhvr>
                                        <p:cTn id="27" dur="2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Google Shape;222;p21" descr="image.png"/>
          <p:cNvPicPr preferRelativeResize="0"/>
          <p:nvPr/>
        </p:nvPicPr>
        <p:blipFill rotWithShape="1">
          <a:blip r:embed="rId3"/>
          <a:srcRect/>
          <a:stretch>
            <a:fillRect/>
          </a:stretch>
        </p:blipFill>
        <p:spPr>
          <a:xfrm>
            <a:off x="571500" y="3016597"/>
            <a:ext cx="6172200" cy="1314450"/>
          </a:xfrm>
          <a:prstGeom prst="rect">
            <a:avLst/>
          </a:prstGeom>
          <a:noFill/>
          <a:ln>
            <a:noFill/>
          </a:ln>
        </p:spPr>
      </p:pic>
      <p:pic>
        <p:nvPicPr>
          <p:cNvPr id="223" name="Google Shape;223;p21" descr="image.png"/>
          <p:cNvPicPr preferRelativeResize="0"/>
          <p:nvPr/>
        </p:nvPicPr>
        <p:blipFill rotWithShape="1">
          <a:blip r:embed="rId4"/>
          <a:srcRect/>
          <a:stretch>
            <a:fillRect/>
          </a:stretch>
        </p:blipFill>
        <p:spPr>
          <a:xfrm>
            <a:off x="571500" y="4569172"/>
            <a:ext cx="6172200" cy="1363860"/>
          </a:xfrm>
          <a:prstGeom prst="rect">
            <a:avLst/>
          </a:prstGeom>
          <a:noFill/>
          <a:ln>
            <a:noFill/>
          </a:ln>
        </p:spPr>
      </p:pic>
      <p:sp>
        <p:nvSpPr>
          <p:cNvPr id="224" name="Google Shape;224;p21"/>
          <p:cNvSpPr txBox="1"/>
          <p:nvPr/>
        </p:nvSpPr>
        <p:spPr>
          <a:xfrm>
            <a:off x="571500" y="953541"/>
            <a:ext cx="648081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F766E"/>
                </a:solidFill>
                <a:latin typeface="Times New Roman" panose="02020603050405020304" pitchFamily="18" charset="0"/>
                <a:ea typeface="Poppins SemiBold"/>
                <a:cs typeface="Times New Roman" panose="02020603050405020304" pitchFamily="18" charset="0"/>
                <a:sym typeface="Poppins SemiBold"/>
              </a:rPr>
              <a:t>Conclusion &amp; Path Forward</a:t>
            </a:r>
            <a:endParaRPr b="1">
              <a:latin typeface="Times New Roman" panose="02020603050405020304" pitchFamily="18" charset="0"/>
              <a:cs typeface="Times New Roman" panose="02020603050405020304" pitchFamily="18" charset="0"/>
            </a:endParaRPr>
          </a:p>
        </p:txBody>
      </p:sp>
      <p:sp>
        <p:nvSpPr>
          <p:cNvPr id="225" name="Google Shape;225;p21"/>
          <p:cNvSpPr/>
          <p:nvPr/>
        </p:nvSpPr>
        <p:spPr>
          <a:xfrm>
            <a:off x="571500" y="1696491"/>
            <a:ext cx="6172200" cy="28575"/>
          </a:xfrm>
          <a:prstGeom prst="rect">
            <a:avLst/>
          </a:prstGeom>
          <a:solidFill>
            <a:srgbClr val="CCFB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26" name="Google Shape;226;p21"/>
          <p:cNvSpPr txBox="1"/>
          <p:nvPr/>
        </p:nvSpPr>
        <p:spPr>
          <a:xfrm>
            <a:off x="571500" y="2182266"/>
            <a:ext cx="617220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Times New Roman" panose="02020603050405020304" pitchFamily="18" charset="0"/>
                <a:ea typeface="Lato"/>
                <a:cs typeface="Times New Roman" panose="02020603050405020304" pitchFamily="18" charset="0"/>
                <a:sym typeface="Lato"/>
              </a:rPr>
              <a:t>Cyberbullying persists as a critical challenge in our digital campus life. Our findings confirm that students are ready for a technological intervention.</a:t>
            </a:r>
            <a:endParaRPr b="1">
              <a:latin typeface="Times New Roman" panose="02020603050405020304" pitchFamily="18" charset="0"/>
              <a:cs typeface="Times New Roman" panose="02020603050405020304" pitchFamily="18" charset="0"/>
            </a:endParaRPr>
          </a:p>
        </p:txBody>
      </p:sp>
      <p:pic>
        <p:nvPicPr>
          <p:cNvPr id="227" name="Google Shape;227;p21"/>
          <p:cNvPicPr preferRelativeResize="0"/>
          <p:nvPr/>
        </p:nvPicPr>
        <p:blipFill rotWithShape="1">
          <a:blip r:embed="rId5"/>
          <a:srcRect/>
          <a:stretch>
            <a:fillRect/>
          </a:stretch>
        </p:blipFill>
        <p:spPr>
          <a:xfrm>
            <a:off x="7315200" y="0"/>
            <a:ext cx="4876800" cy="6858000"/>
          </a:xfrm>
          <a:prstGeom prst="rect">
            <a:avLst/>
          </a:prstGeom>
          <a:noFill/>
          <a:ln>
            <a:noFill/>
          </a:ln>
        </p:spPr>
      </p:pic>
      <p:sp>
        <p:nvSpPr>
          <p:cNvPr id="228" name="Google Shape;228;p21"/>
          <p:cNvSpPr txBox="1"/>
          <p:nvPr/>
        </p:nvSpPr>
        <p:spPr>
          <a:xfrm>
            <a:off x="809625" y="3635722"/>
            <a:ext cx="5686425"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dirty="0">
                <a:solidFill>
                  <a:srgbClr val="CCFBF1"/>
                </a:solidFill>
                <a:latin typeface="Times New Roman" panose="02020603050405020304" pitchFamily="18" charset="0"/>
                <a:ea typeface="Lato"/>
                <a:cs typeface="Times New Roman" panose="02020603050405020304" pitchFamily="18" charset="0"/>
                <a:sym typeface="Lato"/>
              </a:rPr>
              <a:t>An AI-powered, anonymous reporting application is the most effective tool to empower students and ensure safety without fear of retaliation.</a:t>
            </a:r>
            <a:endParaRPr b="1" dirty="0">
              <a:latin typeface="Times New Roman" panose="02020603050405020304" pitchFamily="18" charset="0"/>
              <a:cs typeface="Times New Roman" panose="02020603050405020304" pitchFamily="18" charset="0"/>
            </a:endParaRPr>
          </a:p>
        </p:txBody>
      </p:sp>
      <p:sp>
        <p:nvSpPr>
          <p:cNvPr id="229" name="Google Shape;229;p21"/>
          <p:cNvSpPr txBox="1"/>
          <p:nvPr/>
        </p:nvSpPr>
        <p:spPr>
          <a:xfrm>
            <a:off x="819150" y="5197822"/>
            <a:ext cx="56769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dirty="0">
                <a:solidFill>
                  <a:srgbClr val="334155"/>
                </a:solidFill>
                <a:latin typeface="Times New Roman" panose="02020603050405020304" pitchFamily="18" charset="0"/>
                <a:ea typeface="Lato"/>
                <a:cs typeface="Times New Roman" panose="02020603050405020304" pitchFamily="18" charset="0"/>
                <a:sym typeface="Lato"/>
              </a:rPr>
              <a:t>Technology must be supported by institutional policies, mental health counseling, and active awareness workshops.</a:t>
            </a:r>
            <a:endParaRPr b="1" dirty="0">
              <a:latin typeface="Times New Roman" panose="02020603050405020304" pitchFamily="18" charset="0"/>
              <a:cs typeface="Times New Roman" panose="02020603050405020304" pitchFamily="18" charset="0"/>
            </a:endParaRPr>
          </a:p>
        </p:txBody>
      </p:sp>
      <p:pic>
        <p:nvPicPr>
          <p:cNvPr id="230" name="Google Shape;230;p21" descr="image.png"/>
          <p:cNvPicPr preferRelativeResize="0"/>
          <p:nvPr/>
        </p:nvPicPr>
        <p:blipFill rotWithShape="1">
          <a:blip r:embed="rId6"/>
          <a:srcRect/>
          <a:stretch>
            <a:fillRect/>
          </a:stretch>
        </p:blipFill>
        <p:spPr>
          <a:xfrm>
            <a:off x="809625" y="3283297"/>
            <a:ext cx="171450" cy="228600"/>
          </a:xfrm>
          <a:prstGeom prst="rect">
            <a:avLst/>
          </a:prstGeom>
          <a:noFill/>
          <a:ln>
            <a:noFill/>
          </a:ln>
        </p:spPr>
      </p:pic>
      <p:sp>
        <p:nvSpPr>
          <p:cNvPr id="231" name="Google Shape;231;p21"/>
          <p:cNvSpPr txBox="1"/>
          <p:nvPr/>
        </p:nvSpPr>
        <p:spPr>
          <a:xfrm>
            <a:off x="1123950" y="3254722"/>
            <a:ext cx="2990373"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FFFFFF"/>
                </a:solidFill>
                <a:latin typeface="Times New Roman" panose="02020603050405020304" pitchFamily="18" charset="0"/>
                <a:ea typeface="Poppins"/>
                <a:cs typeface="Times New Roman" panose="02020603050405020304" pitchFamily="18" charset="0"/>
                <a:sym typeface="Poppins"/>
              </a:rPr>
              <a:t>Primary Solution: Mobile App</a:t>
            </a:r>
            <a:endParaRPr b="1">
              <a:latin typeface="Times New Roman" panose="02020603050405020304" pitchFamily="18" charset="0"/>
              <a:cs typeface="Times New Roman" panose="02020603050405020304" pitchFamily="18" charset="0"/>
            </a:endParaRPr>
          </a:p>
        </p:txBody>
      </p:sp>
      <p:pic>
        <p:nvPicPr>
          <p:cNvPr id="232" name="Google Shape;232;p21" descr="image.png"/>
          <p:cNvPicPr preferRelativeResize="0"/>
          <p:nvPr/>
        </p:nvPicPr>
        <p:blipFill rotWithShape="1">
          <a:blip r:embed="rId7"/>
          <a:srcRect/>
          <a:stretch>
            <a:fillRect/>
          </a:stretch>
        </p:blipFill>
        <p:spPr>
          <a:xfrm>
            <a:off x="819150" y="4845397"/>
            <a:ext cx="285750" cy="228600"/>
          </a:xfrm>
          <a:prstGeom prst="rect">
            <a:avLst/>
          </a:prstGeom>
          <a:noFill/>
          <a:ln>
            <a:noFill/>
          </a:ln>
        </p:spPr>
      </p:pic>
      <p:sp>
        <p:nvSpPr>
          <p:cNvPr id="233" name="Google Shape;233;p21"/>
          <p:cNvSpPr txBox="1"/>
          <p:nvPr/>
        </p:nvSpPr>
        <p:spPr>
          <a:xfrm>
            <a:off x="1247775" y="4816822"/>
            <a:ext cx="2500312"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766E"/>
                </a:solidFill>
                <a:latin typeface="Times New Roman" panose="02020603050405020304" pitchFamily="18" charset="0"/>
                <a:ea typeface="Poppins"/>
                <a:cs typeface="Times New Roman" panose="02020603050405020304" pitchFamily="18" charset="0"/>
                <a:sym typeface="Poppins"/>
              </a:rPr>
              <a:t>Holistic Support System</a:t>
            </a:r>
            <a:endParaRPr b="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fade">
                                      <p:cBhvr>
                                        <p:cTn id="7" dur="1000"/>
                                        <p:tgtEl>
                                          <p:spTgt spid="224"/>
                                        </p:tgtEl>
                                      </p:cBhvr>
                                    </p:animEffect>
                                    <p:anim calcmode="lin" valueType="num">
                                      <p:cBhvr>
                                        <p:cTn id="8" dur="1000" fill="hold"/>
                                        <p:tgtEl>
                                          <p:spTgt spid="224"/>
                                        </p:tgtEl>
                                        <p:attrNameLst>
                                          <p:attrName>ppt_x</p:attrName>
                                        </p:attrNameLst>
                                      </p:cBhvr>
                                      <p:tavLst>
                                        <p:tav tm="0">
                                          <p:val>
                                            <p:strVal val="#ppt_x"/>
                                          </p:val>
                                        </p:tav>
                                        <p:tav tm="100000">
                                          <p:val>
                                            <p:strVal val="#ppt_x"/>
                                          </p:val>
                                        </p:tav>
                                      </p:tavLst>
                                    </p:anim>
                                    <p:anim calcmode="lin" valueType="num">
                                      <p:cBhvr>
                                        <p:cTn id="9" dur="1000" fill="hold"/>
                                        <p:tgtEl>
                                          <p:spTgt spid="22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27"/>
                                        </p:tgtEl>
                                        <p:attrNameLst>
                                          <p:attrName>style.visibility</p:attrName>
                                        </p:attrNameLst>
                                      </p:cBhvr>
                                      <p:to>
                                        <p:strVal val="visible"/>
                                      </p:to>
                                    </p:set>
                                    <p:animEffect transition="in" filter="fade">
                                      <p:cBhvr>
                                        <p:cTn id="12" dur="1000"/>
                                        <p:tgtEl>
                                          <p:spTgt spid="227"/>
                                        </p:tgtEl>
                                      </p:cBhvr>
                                    </p:animEffect>
                                    <p:anim calcmode="lin" valueType="num">
                                      <p:cBhvr>
                                        <p:cTn id="13" dur="1000" fill="hold"/>
                                        <p:tgtEl>
                                          <p:spTgt spid="227"/>
                                        </p:tgtEl>
                                        <p:attrNameLst>
                                          <p:attrName>ppt_x</p:attrName>
                                        </p:attrNameLst>
                                      </p:cBhvr>
                                      <p:tavLst>
                                        <p:tav tm="0">
                                          <p:val>
                                            <p:strVal val="#ppt_x"/>
                                          </p:val>
                                        </p:tav>
                                        <p:tav tm="100000">
                                          <p:val>
                                            <p:strVal val="#ppt_x"/>
                                          </p:val>
                                        </p:tav>
                                      </p:tavLst>
                                    </p:anim>
                                    <p:anim calcmode="lin" valueType="num">
                                      <p:cBhvr>
                                        <p:cTn id="14" dur="1000" fill="hold"/>
                                        <p:tgtEl>
                                          <p:spTgt spid="22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6"/>
                                        </p:tgtEl>
                                        <p:attrNameLst>
                                          <p:attrName>style.visibility</p:attrName>
                                        </p:attrNameLst>
                                      </p:cBhvr>
                                      <p:to>
                                        <p:strVal val="visible"/>
                                      </p:to>
                                    </p:set>
                                    <p:anim calcmode="lin" valueType="num">
                                      <p:cBhvr additive="base">
                                        <p:cTn id="19" dur="500" fill="hold"/>
                                        <p:tgtEl>
                                          <p:spTgt spid="226"/>
                                        </p:tgtEl>
                                        <p:attrNameLst>
                                          <p:attrName>ppt_x</p:attrName>
                                        </p:attrNameLst>
                                      </p:cBhvr>
                                      <p:tavLst>
                                        <p:tav tm="0">
                                          <p:val>
                                            <p:strVal val="#ppt_x"/>
                                          </p:val>
                                        </p:tav>
                                        <p:tav tm="100000">
                                          <p:val>
                                            <p:strVal val="#ppt_x"/>
                                          </p:val>
                                        </p:tav>
                                      </p:tavLst>
                                    </p:anim>
                                    <p:anim calcmode="lin" valueType="num">
                                      <p:cBhvr additive="base">
                                        <p:cTn id="20" dur="500" fill="hold"/>
                                        <p:tgtEl>
                                          <p:spTgt spid="22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22"/>
                                        </p:tgtEl>
                                        <p:attrNameLst>
                                          <p:attrName>style.visibility</p:attrName>
                                        </p:attrNameLst>
                                      </p:cBhvr>
                                      <p:to>
                                        <p:strVal val="visible"/>
                                      </p:to>
                                    </p:set>
                                    <p:anim calcmode="lin" valueType="num">
                                      <p:cBhvr additive="base">
                                        <p:cTn id="23" dur="500" fill="hold"/>
                                        <p:tgtEl>
                                          <p:spTgt spid="222"/>
                                        </p:tgtEl>
                                        <p:attrNameLst>
                                          <p:attrName>ppt_x</p:attrName>
                                        </p:attrNameLst>
                                      </p:cBhvr>
                                      <p:tavLst>
                                        <p:tav tm="0">
                                          <p:val>
                                            <p:strVal val="#ppt_x"/>
                                          </p:val>
                                        </p:tav>
                                        <p:tav tm="100000">
                                          <p:val>
                                            <p:strVal val="#ppt_x"/>
                                          </p:val>
                                        </p:tav>
                                      </p:tavLst>
                                    </p:anim>
                                    <p:anim calcmode="lin" valueType="num">
                                      <p:cBhvr additive="base">
                                        <p:cTn id="24" dur="500" fill="hold"/>
                                        <p:tgtEl>
                                          <p:spTgt spid="222"/>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23"/>
                                        </p:tgtEl>
                                        <p:attrNameLst>
                                          <p:attrName>style.visibility</p:attrName>
                                        </p:attrNameLst>
                                      </p:cBhvr>
                                      <p:to>
                                        <p:strVal val="visible"/>
                                      </p:to>
                                    </p:set>
                                    <p:anim calcmode="lin" valueType="num">
                                      <p:cBhvr additive="base">
                                        <p:cTn id="27" dur="500" fill="hold"/>
                                        <p:tgtEl>
                                          <p:spTgt spid="223"/>
                                        </p:tgtEl>
                                        <p:attrNameLst>
                                          <p:attrName>ppt_x</p:attrName>
                                        </p:attrNameLst>
                                      </p:cBhvr>
                                      <p:tavLst>
                                        <p:tav tm="0">
                                          <p:val>
                                            <p:strVal val="#ppt_x"/>
                                          </p:val>
                                        </p:tav>
                                        <p:tav tm="100000">
                                          <p:val>
                                            <p:strVal val="#ppt_x"/>
                                          </p:val>
                                        </p:tav>
                                      </p:tavLst>
                                    </p:anim>
                                    <p:anim calcmode="lin" valueType="num">
                                      <p:cBhvr additive="base">
                                        <p:cTn id="28" dur="500" fill="hold"/>
                                        <p:tgtEl>
                                          <p:spTgt spid="22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30"/>
                                        </p:tgtEl>
                                        <p:attrNameLst>
                                          <p:attrName>style.visibility</p:attrName>
                                        </p:attrNameLst>
                                      </p:cBhvr>
                                      <p:to>
                                        <p:strVal val="visible"/>
                                      </p:to>
                                    </p:set>
                                    <p:anim calcmode="lin" valueType="num">
                                      <p:cBhvr additive="base">
                                        <p:cTn id="31" dur="500" fill="hold"/>
                                        <p:tgtEl>
                                          <p:spTgt spid="230"/>
                                        </p:tgtEl>
                                        <p:attrNameLst>
                                          <p:attrName>ppt_x</p:attrName>
                                        </p:attrNameLst>
                                      </p:cBhvr>
                                      <p:tavLst>
                                        <p:tav tm="0">
                                          <p:val>
                                            <p:strVal val="#ppt_x"/>
                                          </p:val>
                                        </p:tav>
                                        <p:tav tm="100000">
                                          <p:val>
                                            <p:strVal val="#ppt_x"/>
                                          </p:val>
                                        </p:tav>
                                      </p:tavLst>
                                    </p:anim>
                                    <p:anim calcmode="lin" valueType="num">
                                      <p:cBhvr additive="base">
                                        <p:cTn id="32" dur="500" fill="hold"/>
                                        <p:tgtEl>
                                          <p:spTgt spid="23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32"/>
                                        </p:tgtEl>
                                        <p:attrNameLst>
                                          <p:attrName>style.visibility</p:attrName>
                                        </p:attrNameLst>
                                      </p:cBhvr>
                                      <p:to>
                                        <p:strVal val="visible"/>
                                      </p:to>
                                    </p:set>
                                    <p:anim calcmode="lin" valueType="num">
                                      <p:cBhvr additive="base">
                                        <p:cTn id="35" dur="500" fill="hold"/>
                                        <p:tgtEl>
                                          <p:spTgt spid="232"/>
                                        </p:tgtEl>
                                        <p:attrNameLst>
                                          <p:attrName>ppt_x</p:attrName>
                                        </p:attrNameLst>
                                      </p:cBhvr>
                                      <p:tavLst>
                                        <p:tav tm="0">
                                          <p:val>
                                            <p:strVal val="#ppt_x"/>
                                          </p:val>
                                        </p:tav>
                                        <p:tav tm="100000">
                                          <p:val>
                                            <p:strVal val="#ppt_x"/>
                                          </p:val>
                                        </p:tav>
                                      </p:tavLst>
                                    </p:anim>
                                    <p:anim calcmode="lin" valueType="num">
                                      <p:cBhvr additive="base">
                                        <p:cTn id="36" dur="500" fill="hold"/>
                                        <p:tgtEl>
                                          <p:spTgt spid="23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31"/>
                                        </p:tgtEl>
                                        <p:attrNameLst>
                                          <p:attrName>style.visibility</p:attrName>
                                        </p:attrNameLst>
                                      </p:cBhvr>
                                      <p:to>
                                        <p:strVal val="visible"/>
                                      </p:to>
                                    </p:set>
                                    <p:anim calcmode="lin" valueType="num">
                                      <p:cBhvr additive="base">
                                        <p:cTn id="41" dur="500" fill="hold"/>
                                        <p:tgtEl>
                                          <p:spTgt spid="231"/>
                                        </p:tgtEl>
                                        <p:attrNameLst>
                                          <p:attrName>ppt_x</p:attrName>
                                        </p:attrNameLst>
                                      </p:cBhvr>
                                      <p:tavLst>
                                        <p:tav tm="0">
                                          <p:val>
                                            <p:strVal val="#ppt_x"/>
                                          </p:val>
                                        </p:tav>
                                        <p:tav tm="100000">
                                          <p:val>
                                            <p:strVal val="#ppt_x"/>
                                          </p:val>
                                        </p:tav>
                                      </p:tavLst>
                                    </p:anim>
                                    <p:anim calcmode="lin" valueType="num">
                                      <p:cBhvr additive="base">
                                        <p:cTn id="42" dur="500" fill="hold"/>
                                        <p:tgtEl>
                                          <p:spTgt spid="231"/>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33"/>
                                        </p:tgtEl>
                                        <p:attrNameLst>
                                          <p:attrName>style.visibility</p:attrName>
                                        </p:attrNameLst>
                                      </p:cBhvr>
                                      <p:to>
                                        <p:strVal val="visible"/>
                                      </p:to>
                                    </p:set>
                                    <p:anim calcmode="lin" valueType="num">
                                      <p:cBhvr additive="base">
                                        <p:cTn id="45" dur="500" fill="hold"/>
                                        <p:tgtEl>
                                          <p:spTgt spid="233"/>
                                        </p:tgtEl>
                                        <p:attrNameLst>
                                          <p:attrName>ppt_x</p:attrName>
                                        </p:attrNameLst>
                                      </p:cBhvr>
                                      <p:tavLst>
                                        <p:tav tm="0">
                                          <p:val>
                                            <p:strVal val="#ppt_x"/>
                                          </p:val>
                                        </p:tav>
                                        <p:tav tm="100000">
                                          <p:val>
                                            <p:strVal val="#ppt_x"/>
                                          </p:val>
                                        </p:tav>
                                      </p:tavLst>
                                    </p:anim>
                                    <p:anim calcmode="lin" valueType="num">
                                      <p:cBhvr additive="base">
                                        <p:cTn id="46" dur="500" fill="hold"/>
                                        <p:tgtEl>
                                          <p:spTgt spid="23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28"/>
                                        </p:tgtEl>
                                        <p:attrNameLst>
                                          <p:attrName>style.visibility</p:attrName>
                                        </p:attrNameLst>
                                      </p:cBhvr>
                                      <p:to>
                                        <p:strVal val="visible"/>
                                      </p:to>
                                    </p:set>
                                    <p:anim calcmode="lin" valueType="num">
                                      <p:cBhvr additive="base">
                                        <p:cTn id="49" dur="500" fill="hold"/>
                                        <p:tgtEl>
                                          <p:spTgt spid="228"/>
                                        </p:tgtEl>
                                        <p:attrNameLst>
                                          <p:attrName>ppt_x</p:attrName>
                                        </p:attrNameLst>
                                      </p:cBhvr>
                                      <p:tavLst>
                                        <p:tav tm="0">
                                          <p:val>
                                            <p:strVal val="#ppt_x"/>
                                          </p:val>
                                        </p:tav>
                                        <p:tav tm="100000">
                                          <p:val>
                                            <p:strVal val="#ppt_x"/>
                                          </p:val>
                                        </p:tav>
                                      </p:tavLst>
                                    </p:anim>
                                    <p:anim calcmode="lin" valueType="num">
                                      <p:cBhvr additive="base">
                                        <p:cTn id="50" dur="500" fill="hold"/>
                                        <p:tgtEl>
                                          <p:spTgt spid="228"/>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29"/>
                                        </p:tgtEl>
                                        <p:attrNameLst>
                                          <p:attrName>style.visibility</p:attrName>
                                        </p:attrNameLst>
                                      </p:cBhvr>
                                      <p:to>
                                        <p:strVal val="visible"/>
                                      </p:to>
                                    </p:set>
                                    <p:anim calcmode="lin" valueType="num">
                                      <p:cBhvr additive="base">
                                        <p:cTn id="53" dur="500" fill="hold"/>
                                        <p:tgtEl>
                                          <p:spTgt spid="229"/>
                                        </p:tgtEl>
                                        <p:attrNameLst>
                                          <p:attrName>ppt_x</p:attrName>
                                        </p:attrNameLst>
                                      </p:cBhvr>
                                      <p:tavLst>
                                        <p:tav tm="0">
                                          <p:val>
                                            <p:strVal val="#ppt_x"/>
                                          </p:val>
                                        </p:tav>
                                        <p:tav tm="100000">
                                          <p:val>
                                            <p:strVal val="#ppt_x"/>
                                          </p:val>
                                        </p:tav>
                                      </p:tavLst>
                                    </p:anim>
                                    <p:anim calcmode="lin" valueType="num">
                                      <p:cBhvr additive="base">
                                        <p:cTn id="54" dur="500" fill="hold"/>
                                        <p:tgtEl>
                                          <p:spTgt spid="2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p:bldP spid="226" grpId="0"/>
      <p:bldP spid="228" grpId="0"/>
      <p:bldP spid="229" grpId="0"/>
      <p:bldP spid="231" grpId="0"/>
      <p:bldP spid="2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39750" y="1218565"/>
            <a:ext cx="10680065" cy="1509395"/>
          </a:xfrm>
          <a:prstGeom prst="rect">
            <a:avLst/>
          </a:prstGeom>
        </p:spPr>
        <p:txBody>
          <a:bodyPr wrap="square">
            <a:spAutoFit/>
          </a:bodyPr>
          <a:lstStyle/>
          <a:p>
            <a:pPr marL="36195" indent="0" algn="just" defTabSz="266700">
              <a:spcBef>
                <a:spcPts val="600"/>
              </a:spcBef>
              <a:spcAft>
                <a:spcPct val="0"/>
              </a:spcAft>
              <a:buFont typeface="Times New Roman" panose="02020603050405020304"/>
              <a:buNone/>
            </a:pPr>
            <a:endParaRPr lang="en-US" altLang="zh-CN" sz="1600" b="0" i="1">
              <a:latin typeface="Times New Roman" panose="02020603050405020304"/>
              <a:ea typeface="Times New Roman" panose="02020603050405020304"/>
            </a:endParaRPr>
          </a:p>
          <a:p>
            <a:pPr marL="0" indent="254000" algn="just" defTabSz="266700">
              <a:spcBef>
                <a:spcPts val="500"/>
              </a:spcBef>
              <a:spcAft>
                <a:spcPts val="500"/>
              </a:spcAft>
            </a:pPr>
            <a:r>
              <a:rPr lang="en-US" altLang="zh-CN" sz="1800">
                <a:solidFill>
                  <a:srgbClr val="FF0000"/>
                </a:solidFill>
                <a:latin typeface="Times New Roman" panose="02020603050405020304"/>
                <a:ea typeface="SimSun" panose="02010600030101010101" pitchFamily="2" charset="-122"/>
              </a:rPr>
              <a:t>                              This study had several limitations. The sample size was small, with data collected from only 23 students, which limited the generalizability of the findings. The study relied on self-reported responses, which may have been influenced by personal perceptions or response bias. Additionally, the research focused on a single university, so the results may not represent students from other institutions.</a:t>
            </a:r>
          </a:p>
        </p:txBody>
      </p:sp>
      <p:sp>
        <p:nvSpPr>
          <p:cNvPr id="3" name="Text Box 2"/>
          <p:cNvSpPr txBox="1"/>
          <p:nvPr/>
        </p:nvSpPr>
        <p:spPr>
          <a:xfrm>
            <a:off x="770255" y="917575"/>
            <a:ext cx="4486910" cy="769620"/>
          </a:xfrm>
          <a:prstGeom prst="rect">
            <a:avLst/>
          </a:prstGeom>
          <a:noFill/>
        </p:spPr>
        <p:txBody>
          <a:bodyPr wrap="square" rtlCol="0">
            <a:noAutofit/>
          </a:bodyPr>
          <a:lstStyle/>
          <a:p>
            <a:r>
              <a:rPr lang="en-US" altLang="en-GB" sz="3000" i="1" u="sng">
                <a:solidFill>
                  <a:srgbClr val="FF0000"/>
                </a:solidFill>
                <a:latin typeface="Times New Roman" panose="02020603050405020304" pitchFamily="18" charset="0"/>
                <a:cs typeface="Times New Roman" panose="02020603050405020304" pitchFamily="18" charset="0"/>
              </a:rPr>
              <a:t>Limitations:</a:t>
            </a:r>
          </a:p>
        </p:txBody>
      </p:sp>
      <p:sp>
        <p:nvSpPr>
          <p:cNvPr id="4" name="Text Box 3"/>
          <p:cNvSpPr txBox="1"/>
          <p:nvPr/>
        </p:nvSpPr>
        <p:spPr>
          <a:xfrm>
            <a:off x="842010" y="3140075"/>
            <a:ext cx="2785745" cy="553085"/>
          </a:xfrm>
          <a:prstGeom prst="rect">
            <a:avLst/>
          </a:prstGeom>
          <a:noFill/>
        </p:spPr>
        <p:txBody>
          <a:bodyPr wrap="square" rtlCol="0">
            <a:spAutoFit/>
          </a:bodyPr>
          <a:lstStyle/>
          <a:p>
            <a:r>
              <a:rPr lang="en-US" altLang="en-GB" sz="3000" i="1" u="sng">
                <a:solidFill>
                  <a:srgbClr val="FF0000"/>
                </a:solidFill>
                <a:latin typeface="Times New Roman" panose="02020603050405020304" pitchFamily="18" charset="0"/>
                <a:cs typeface="Times New Roman" panose="02020603050405020304" pitchFamily="18" charset="0"/>
              </a:rPr>
              <a:t>Suggestions:</a:t>
            </a:r>
          </a:p>
        </p:txBody>
      </p:sp>
      <p:sp>
        <p:nvSpPr>
          <p:cNvPr id="5" name="Text Box 4"/>
          <p:cNvSpPr txBox="1"/>
          <p:nvPr/>
        </p:nvSpPr>
        <p:spPr>
          <a:xfrm>
            <a:off x="841375" y="3855720"/>
            <a:ext cx="10680700" cy="2393315"/>
          </a:xfrm>
          <a:prstGeom prst="rect">
            <a:avLst/>
          </a:prstGeom>
        </p:spPr>
        <p:txBody>
          <a:bodyPr>
            <a:noAutofit/>
          </a:bodyPr>
          <a:lstStyle/>
          <a:p>
            <a:pPr marL="0" indent="317500" algn="just" defTabSz="266700">
              <a:spcBef>
                <a:spcPts val="500"/>
              </a:spcBef>
              <a:spcAft>
                <a:spcPts val="500"/>
              </a:spcAft>
            </a:pPr>
            <a:r>
              <a:rPr lang="en-US" altLang="zh-CN" sz="1600">
                <a:latin typeface="Times New Roman" panose="02020603050405020304"/>
                <a:ea typeface="SimSun" panose="02010600030101010101" pitchFamily="2" charset="-122"/>
              </a:rPr>
              <a:t>                    </a:t>
            </a:r>
            <a:r>
              <a:rPr lang="en-US" altLang="zh-CN" sz="1800">
                <a:solidFill>
                  <a:srgbClr val="FF0000"/>
                </a:solidFill>
                <a:latin typeface="Times New Roman" panose="02020603050405020304"/>
                <a:ea typeface="SimSun" panose="02010600030101010101" pitchFamily="2" charset="-122"/>
              </a:rPr>
              <a:t> Future studies could include a larger and more diverse sample to improve the reliability of the findings. Further research may also evaluate the effectiveness of specific mobile or AI-based reporting systems in real campus settings. In addition, AIUB could consider implementing a pilot app-based reporting system along with regular awareness programs to promote responsible online communication and reduce cyberbullying incidents.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22" descr="image.png"/>
          <p:cNvPicPr preferRelativeResize="0"/>
          <p:nvPr/>
        </p:nvPicPr>
        <p:blipFill rotWithShape="1">
          <a:blip r:embed="rId3"/>
          <a:srcRect/>
          <a:stretch>
            <a:fillRect/>
          </a:stretch>
        </p:blipFill>
        <p:spPr>
          <a:xfrm>
            <a:off x="3333750" y="5190083"/>
            <a:ext cx="5524500" cy="676275"/>
          </a:xfrm>
          <a:prstGeom prst="rect">
            <a:avLst/>
          </a:prstGeom>
          <a:noFill/>
          <a:ln>
            <a:noFill/>
          </a:ln>
        </p:spPr>
      </p:pic>
      <p:sp>
        <p:nvSpPr>
          <p:cNvPr id="236" name="Google Shape;236;p22"/>
          <p:cNvSpPr txBox="1"/>
          <p:nvPr/>
        </p:nvSpPr>
        <p:spPr>
          <a:xfrm>
            <a:off x="295275" y="2324992"/>
            <a:ext cx="1160145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dirty="0">
                <a:solidFill>
                  <a:srgbClr val="0F172A"/>
                </a:solidFill>
                <a:latin typeface="Times New Roman" panose="02020603050405020304" pitchFamily="18" charset="0"/>
                <a:ea typeface="Poppins"/>
                <a:cs typeface="Times New Roman" panose="02020603050405020304" pitchFamily="18" charset="0"/>
                <a:sym typeface="Poppins"/>
              </a:rPr>
              <a:t>Thank You!</a:t>
            </a:r>
            <a:endParaRPr dirty="0">
              <a:latin typeface="Times New Roman" panose="02020603050405020304" pitchFamily="18" charset="0"/>
              <a:cs typeface="Times New Roman" panose="02020603050405020304" pitchFamily="18" charset="0"/>
            </a:endParaRPr>
          </a:p>
        </p:txBody>
      </p:sp>
      <p:sp>
        <p:nvSpPr>
          <p:cNvPr id="237" name="Google Shape;237;p22"/>
          <p:cNvSpPr txBox="1"/>
          <p:nvPr/>
        </p:nvSpPr>
        <p:spPr>
          <a:xfrm>
            <a:off x="571500" y="3925192"/>
            <a:ext cx="11049000" cy="51706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100" b="0" i="0" u="none" strike="noStrike" cap="none" dirty="0">
                <a:solidFill>
                  <a:srgbClr val="64748B"/>
                </a:solidFill>
                <a:latin typeface="Times New Roman" panose="02020603050405020304" pitchFamily="18" charset="0"/>
                <a:ea typeface="Lato"/>
                <a:cs typeface="Times New Roman" panose="02020603050405020304" pitchFamily="18" charset="0"/>
                <a:sym typeface="Lato"/>
              </a:rPr>
              <a:t>Together we can create a safer digital campus.</a:t>
            </a:r>
            <a:endParaRPr dirty="0">
              <a:latin typeface="Times New Roman" panose="02020603050405020304" pitchFamily="18" charset="0"/>
              <a:cs typeface="Times New Roman" panose="02020603050405020304" pitchFamily="18" charset="0"/>
            </a:endParaRPr>
          </a:p>
        </p:txBody>
      </p:sp>
      <p:pic>
        <p:nvPicPr>
          <p:cNvPr id="238" name="Google Shape;238;p22" descr="image.png"/>
          <p:cNvPicPr preferRelativeResize="0"/>
          <p:nvPr/>
        </p:nvPicPr>
        <p:blipFill rotWithShape="1">
          <a:blip r:embed="rId4"/>
          <a:srcRect/>
          <a:stretch>
            <a:fillRect/>
          </a:stretch>
        </p:blipFill>
        <p:spPr>
          <a:xfrm>
            <a:off x="5500687" y="1105792"/>
            <a:ext cx="1190625" cy="952500"/>
          </a:xfrm>
          <a:prstGeom prst="rect">
            <a:avLst/>
          </a:prstGeom>
          <a:noFill/>
          <a:ln>
            <a:noFill/>
          </a:ln>
        </p:spPr>
      </p:pic>
      <p:sp>
        <p:nvSpPr>
          <p:cNvPr id="239" name="Google Shape;239;p22"/>
          <p:cNvSpPr txBox="1"/>
          <p:nvPr/>
        </p:nvSpPr>
        <p:spPr>
          <a:xfrm>
            <a:off x="3195636" y="5312135"/>
            <a:ext cx="5800725" cy="461645"/>
          </a:xfrm>
          <a:prstGeom prst="rect">
            <a:avLst/>
          </a:prstGeom>
          <a:noFill/>
          <a:ln>
            <a:noFill/>
          </a:ln>
        </p:spPr>
        <p:txBody>
          <a:bodyPr spcFirstLastPara="1" wrap="square" lIns="0" tIns="0" rIns="0" bIns="0" anchor="t" anchorCtr="0">
            <a:spAutoFit/>
          </a:bodyPr>
          <a:lstStyle/>
          <a:p>
            <a:pPr lvl="0" algn="ctr"/>
            <a:r>
              <a:rPr lang="en-US" sz="3000" b="1" dirty="0">
                <a:solidFill>
                  <a:srgbClr val="FF0000"/>
                </a:solidFill>
                <a:latin typeface="Times New Roman" panose="02020603050405020304" pitchFamily="18" charset="0"/>
                <a:ea typeface="Poppins"/>
                <a:cs typeface="Times New Roman" panose="02020603050405020304" pitchFamily="18" charset="0"/>
                <a:sym typeface="Poppins"/>
              </a:rPr>
              <a:t>Any Questions?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2000"/>
                                        <p:tgtEl>
                                          <p:spTgt spid="238"/>
                                        </p:tgtEl>
                                      </p:cBhvr>
                                    </p:animEffect>
                                    <p:anim calcmode="lin" valueType="num">
                                      <p:cBhvr>
                                        <p:cTn id="8" dur="2000" fill="hold"/>
                                        <p:tgtEl>
                                          <p:spTgt spid="238"/>
                                        </p:tgtEl>
                                        <p:attrNameLst>
                                          <p:attrName>ppt_w</p:attrName>
                                        </p:attrNameLst>
                                      </p:cBhvr>
                                      <p:tavLst>
                                        <p:tav tm="0" fmla="#ppt_w*sin(2.5*pi*$)">
                                          <p:val>
                                            <p:fltVal val="0"/>
                                          </p:val>
                                        </p:tav>
                                        <p:tav tm="100000">
                                          <p:val>
                                            <p:fltVal val="1"/>
                                          </p:val>
                                        </p:tav>
                                      </p:tavLst>
                                    </p:anim>
                                    <p:anim calcmode="lin" valueType="num">
                                      <p:cBhvr>
                                        <p:cTn id="9" dur="2000" fill="hold"/>
                                        <p:tgtEl>
                                          <p:spTgt spid="238"/>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36"/>
                                        </p:tgtEl>
                                        <p:attrNameLst>
                                          <p:attrName>style.visibility</p:attrName>
                                        </p:attrNameLst>
                                      </p:cBhvr>
                                      <p:to>
                                        <p:strVal val="visible"/>
                                      </p:to>
                                    </p:set>
                                    <p:animEffect transition="in" filter="fade">
                                      <p:cBhvr>
                                        <p:cTn id="14" dur="1000"/>
                                        <p:tgtEl>
                                          <p:spTgt spid="236"/>
                                        </p:tgtEl>
                                      </p:cBhvr>
                                    </p:animEffect>
                                    <p:anim calcmode="lin" valueType="num">
                                      <p:cBhvr>
                                        <p:cTn id="15" dur="1000" fill="hold"/>
                                        <p:tgtEl>
                                          <p:spTgt spid="236"/>
                                        </p:tgtEl>
                                        <p:attrNameLst>
                                          <p:attrName>ppt_x</p:attrName>
                                        </p:attrNameLst>
                                      </p:cBhvr>
                                      <p:tavLst>
                                        <p:tav tm="0">
                                          <p:val>
                                            <p:strVal val="#ppt_x"/>
                                          </p:val>
                                        </p:tav>
                                        <p:tav tm="100000">
                                          <p:val>
                                            <p:strVal val="#ppt_x"/>
                                          </p:val>
                                        </p:tav>
                                      </p:tavLst>
                                    </p:anim>
                                    <p:anim calcmode="lin" valueType="num">
                                      <p:cBhvr>
                                        <p:cTn id="16" dur="1000" fill="hold"/>
                                        <p:tgtEl>
                                          <p:spTgt spid="23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37">
                                            <p:txEl>
                                              <p:pRg st="0" end="0"/>
                                            </p:txEl>
                                          </p:spTgt>
                                        </p:tgtEl>
                                        <p:attrNameLst>
                                          <p:attrName>style.visibility</p:attrName>
                                        </p:attrNameLst>
                                      </p:cBhvr>
                                      <p:to>
                                        <p:strVal val="visible"/>
                                      </p:to>
                                    </p:set>
                                    <p:animEffect transition="in" filter="fade">
                                      <p:cBhvr>
                                        <p:cTn id="21" dur="1000"/>
                                        <p:tgtEl>
                                          <p:spTgt spid="237">
                                            <p:txEl>
                                              <p:pRg st="0" end="0"/>
                                            </p:txEl>
                                          </p:spTgt>
                                        </p:tgtEl>
                                      </p:cBhvr>
                                    </p:animEffect>
                                    <p:anim calcmode="lin" valueType="num">
                                      <p:cBhvr>
                                        <p:cTn id="22" dur="1000" fill="hold"/>
                                        <p:tgtEl>
                                          <p:spTgt spid="237">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3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39"/>
                                        </p:tgtEl>
                                        <p:attrNameLst>
                                          <p:attrName>style.visibility</p:attrName>
                                        </p:attrNameLst>
                                      </p:cBhvr>
                                      <p:to>
                                        <p:strVal val="visible"/>
                                      </p:to>
                                    </p:set>
                                    <p:anim calcmode="lin" valueType="num">
                                      <p:cBhvr additive="base">
                                        <p:cTn id="28" dur="500" fill="hold"/>
                                        <p:tgtEl>
                                          <p:spTgt spid="239"/>
                                        </p:tgtEl>
                                        <p:attrNameLst>
                                          <p:attrName>ppt_x</p:attrName>
                                        </p:attrNameLst>
                                      </p:cBhvr>
                                      <p:tavLst>
                                        <p:tav tm="0">
                                          <p:val>
                                            <p:strVal val="#ppt_x"/>
                                          </p:val>
                                        </p:tav>
                                        <p:tav tm="100000">
                                          <p:val>
                                            <p:strVal val="#ppt_x"/>
                                          </p:val>
                                        </p:tav>
                                      </p:tavLst>
                                    </p:anim>
                                    <p:anim calcmode="lin" valueType="num">
                                      <p:cBhvr additive="base">
                                        <p:cTn id="29" dur="500" fill="hold"/>
                                        <p:tgtEl>
                                          <p:spTgt spid="2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 grpId="0"/>
      <p:bldP spid="239"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61.23685039370076,&quot;left&quot;:498.75,&quot;top&quot;:237.45700787401574,&quot;width&quot;:416.2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61.23685039370076,&quot;left&quot;:498.75,&quot;top&quot;:237.45700787401574,&quot;width&quot;:416.2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61.23685039370076,&quot;left&quot;:498.75,&quot;top&quot;:237.45700787401574,&quot;width&quot;:416.2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61.23685039370076,&quot;left&quot;:498.75,&quot;top&quot;:237.45700787401574,&quot;width&quot;:416.2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61.23685039370076,&quot;left&quot;:498.75,&quot;top&quot;:237.45700787401574,&quot;width&quot;:416.2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61.23685039370076,&quot;left&quot;:498.75,&quot;top&quot;:237.45700787401574,&quot;width&quot;:416.25}"/>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752</Words>
  <Application>Microsoft Office PowerPoint</Application>
  <PresentationFormat>Widescreen</PresentationFormat>
  <Paragraphs>86</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Md. Shafiqur Rahman</cp:lastModifiedBy>
  <cp:revision>29</cp:revision>
  <dcterms:created xsi:type="dcterms:W3CDTF">2026-01-08T00:45:00Z</dcterms:created>
  <dcterms:modified xsi:type="dcterms:W3CDTF">2026-10-01T09:57:30Z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042E2B61371943FDB2E523D736A05478_12</vt:lpwstr>
  </property>
  <property fmtid="{D5CDD505-2E9C-101B-9397-08002B2CF9AE}" pid="3" name="KSOProductBuildVer">
    <vt:lpwstr>2057-12.2.0.23197</vt:lpwstr>
  </property>
</Properties>
</file>